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8.png"/><Relationship Id="rId6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9.png"/><Relationship Id="rId6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5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Relationship Id="rId9" Type="http://schemas.openxmlformats.org/officeDocument/2006/relationships/image" Target="../media/image20.png"/><Relationship Id="rId10" Type="http://schemas.openxmlformats.org/officeDocument/2006/relationships/image" Target="../media/image1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457200"/>
            <a:ext cx="2560320" cy="292608"/>
          </a:xfrm>
          <a:prstGeom prst="rect">
            <a:avLst/>
          </a:prstGeom>
          <a:solidFill>
            <a:srgbClr val="16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9377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SOLICITUD DE APROBACIÓN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868680"/>
            <a:ext cx="8229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 Light"/>
              </a:rPr>
              <a:t>FifoCleanup  v1.0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85C1E9"/>
                </a:solidFill>
                <a:latin typeface="Calibri"/>
              </a:rPr>
              <a:t>Gestión Automática de Almacenamiento FIFO</a:t>
            </a:r>
          </a:p>
          <a:p>
            <a:pPr algn="l"/>
            <a:r>
              <a:rPr sz="2000" b="0">
                <a:solidFill>
                  <a:srgbClr val="B0B0BE"/>
                </a:solidFill>
                <a:latin typeface="Calibri"/>
              </a:rPr>
              <a:t>para Servidor de Monitoreo Industrial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91840"/>
            <a:ext cx="2377440" cy="68580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PRESENTADO POR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IDC Ingeniería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3291840"/>
            <a:ext cx="2377440" cy="68580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PARA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Equipo de TI — ODL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3291840"/>
            <a:ext cx="2377440" cy="68580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FECHA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Marzo 2026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3291840"/>
            <a:ext cx="2377440" cy="68580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333756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SERVIDOR DESTINO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3584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SRVODLRTDNMICA</a:t>
            </a:r>
          </a:p>
        </p:txBody>
      </p:sp>
      <p:pic>
        <p:nvPicPr>
          <p:cNvPr id="18" name="Picture 17" descr="idc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01" dur="indefinite" restart="whenNotActive" nodeType="tmRoot">
          <p:childTnLst>
            <p:par>
              <p:cTn id="102" fill="hold">
                <p:stCondLst>
                  <p:cond delay="0"/>
                </p:stCondLst>
                <p:childTnLst>
                  <p:par>
                    <p:cTn id="10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4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5" presetID="10" presetClass="entr" presetSubtype="0" fill="hold" grpId="1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6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7" presetID="10" presetClass="entr" presetSubtype="0" fill="hold" grpId="2" nodeType="withEffect">
                      <p:stCondLst>
                        <p:cond delay="150"/>
                      </p:stCondLst>
                      <p:childTnLst>
                        <p:animEffect transition="in" filter="fade">
                          <p:cBhvr>
                            <p:cTn id="108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9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10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1" presetID="10" presetClass="entr" presetSubtype="0" fill="hold" grpId="4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2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3" presetID="10" presetClass="entr" presetSubtype="0" fill="hold" grpId="5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4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15" presetID="10" presetClass="entr" presetSubtype="0" fill="hold" grpId="6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6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17" presetID="10" presetClass="entr" presetSubtype="0" fill="hold" grpId="7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8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19" presetID="10" presetClass="entr" presetSubtype="0" fill="hold" grpId="8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0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21" presetID="10" presetClass="entr" presetSubtype="0" fill="hold" grpId="9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2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23" presetID="10" presetClass="entr" presetSubtype="0" fill="hold" grpId="1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4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5" presetID="10" presetClass="entr" presetSubtype="0" fill="hold" grpId="11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6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7" presetID="10" presetClass="entr" presetSubtype="0" fill="hold" grpId="12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28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29" presetID="10" presetClass="entr" presetSubtype="0" fill="hold" grpId="13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0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31" presetID="10" presetClass="entr" presetSubtype="0" fill="hold" grpId="14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2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33" presetID="10" presetClass="entr" presetSubtype="0" fill="hold" grpId="15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4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35" dur="indefinite" restart="whenNotActive" nodeType="tmRoot">
          <p:childTnLst>
            <p:par>
              <p:cTn id="136" fill="hold">
                <p:stCondLst>
                  <p:cond delay="0"/>
                </p:stCondLst>
                <p:childTnLst>
                  <p:par>
                    <p:cTn id="137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38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39" presetID="10" presetClass="entr" presetSubtype="0" fill="hold" grpId="1" nodeType="withEffect">
                      <p:stCondLst>
                        <p:cond delay="80"/>
                      </p:stCondLst>
                      <p:childTnLst>
                        <p:animEffect transition="in" filter="fade">
                          <p:cBhvr>
                            <p:cTn id="140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41" presetID="10" presetClass="entr" presetSubtype="0" fill="hold" grpId="2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142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43" presetID="10" presetClass="entr" presetSubtype="0" fill="hold" grpId="3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144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45" presetID="10" presetClass="entr" presetSubtype="0" fill="hold" grpId="4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146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47" presetID="10" presetClass="entr" presetSubtype="0" fill="hold" grpId="5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148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49" presetID="10" presetClass="entr" presetSubtype="0" fill="hold" grpId="6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150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51" presetID="10" presetClass="entr" presetSubtype="0" fill="hold" grpId="7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52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53" presetID="10" presetClass="entr" presetSubtype="0" fill="hold" grpId="8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54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55" presetID="10" presetClass="entr" presetSubtype="0" fill="hold" grpId="9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56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57" presetID="10" presetClass="entr" presetSubtype="0" fill="hold" grpId="10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58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59" presetID="10" presetClass="entr" presetSubtype="0" fill="hold" grpId="11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60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61" presetID="10" presetClass="entr" presetSubtype="0" fill="hold" grpId="12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62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63" presetID="10" presetClass="entr" presetSubtype="0" fill="hold" grpId="13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64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65" presetID="10" presetClass="entr" presetSubtype="0" fill="hold" grpId="14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66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67" presetID="10" presetClass="entr" presetSubtype="0" fill="hold" grpId="15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68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69" presetID="10" presetClass="entr" presetSubtype="0" fill="hold" grpId="16" nodeType="withEffect">
                      <p:stCondLst>
                        <p:cond delay="390"/>
                      </p:stCondLst>
                      <p:childTnLst>
                        <p:animEffect transition="in" filter="fade">
                          <p:cBhvr>
                            <p:cTn id="170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71" presetID="10" presetClass="entr" presetSubtype="0" fill="hold" grpId="17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172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73" presetID="10" presetClass="entr" presetSubtype="0" fill="hold" grpId="18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174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75" presetID="10" presetClass="entr" presetSubtype="0" fill="hold" grpId="19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176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77" presetID="10" presetClass="entr" presetSubtype="0" fill="hold" grpId="20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178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79" presetID="10" presetClass="entr" presetSubtype="0" fill="hold" grpId="21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180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81" presetID="10" presetClass="entr" presetSubtype="0" fill="hold" grpId="22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182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83" presetID="10" presetClass="entr" presetSubtype="0" fill="hold" grpId="23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184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85" presetID="10" presetClass="entr" presetSubtype="0" fill="hold" grpId="24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186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87" presetID="10" presetClass="entr" presetSubtype="0" fill="hold" grpId="25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188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189" presetID="10" presetClass="entr" presetSubtype="0" fill="hold" grpId="26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190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91" presetID="10" presetClass="entr" presetSubtype="0" fill="hold" grpId="27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92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193" presetID="10" presetClass="entr" presetSubtype="0" fill="hold" grpId="28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94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95" presetID="10" presetClass="entr" presetSubtype="0" fill="hold" grpId="29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96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197" presetID="10" presetClass="entr" presetSubtype="0" fill="hold" grpId="3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98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199" presetID="10" presetClass="entr" presetSubtype="0" fill="hold" grpId="31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200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201" presetID="10" presetClass="entr" presetSubtype="0" fill="hold" grpId="32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202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203" presetID="10" presetClass="entr" presetSubtype="0" fill="hold" grpId="33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204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205" presetID="10" presetClass="entr" presetSubtype="0" fill="hold" grpId="34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206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207" presetID="10" presetClass="entr" presetSubtype="0" fill="hold" grpId="35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208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209" presetID="10" presetClass="entr" presetSubtype="0" fill="hold" grpId="36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210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211" presetID="10" presetClass="entr" presetSubtype="0" fill="hold" grpId="37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212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213" presetID="10" presetClass="entr" presetSubtype="0" fill="hold" grpId="38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214" dur="6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215" presetID="10" presetClass="entr" presetSubtype="0" fill="hold" grpId="39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216" dur="6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217" presetID="10" presetClass="entr" presetSubtype="0" fill="hold" grpId="40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218" dur="6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219" presetID="10" presetClass="entr" presetSubtype="0" fill="hold" grpId="41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220" dur="6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221" presetID="10" presetClass="entr" presetSubtype="0" fill="hold" grpId="42" nodeType="withEffect">
                      <p:stCondLst>
                        <p:cond delay="810"/>
                      </p:stCondLst>
                      <p:childTnLst>
                        <p:animEffect transition="in" filter="fade">
                          <p:cBhvr>
                            <p:cTn id="222" dur="6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223" presetID="10" presetClass="entr" presetSubtype="0" fill="hold" grpId="43" nodeType="withEffect">
                      <p:stCondLst>
                        <p:cond delay="810"/>
                      </p:stCondLst>
                      <p:childTnLst>
                        <p:animEffect transition="in" filter="fade">
                          <p:cBhvr>
                            <p:cTn id="224" dur="6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225" presetID="10" presetClass="entr" presetSubtype="0" fill="hold" grpId="44" nodeType="withEffect">
                      <p:stCondLst>
                        <p:cond delay="810"/>
                      </p:stCondLst>
                      <p:childTnLst>
                        <p:animEffect transition="in" filter="fade">
                          <p:cBhvr>
                            <p:cTn id="226" dur="6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227" presetID="10" presetClass="entr" presetSubtype="0" fill="hold" grpId="45" nodeType="withEffect">
                      <p:stCondLst>
                        <p:cond delay="810"/>
                      </p:stCondLst>
                      <p:childTnLst>
                        <p:animEffect transition="in" filter="fade">
                          <p:cBhvr>
                            <p:cTn id="228" dur="6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229" presetID="10" presetClass="entr" presetSubtype="0" fill="hold" grpId="46" nodeType="withEffect">
                      <p:stCondLst>
                        <p:cond delay="810"/>
                      </p:stCondLst>
                      <p:childTnLst>
                        <p:animEffect transition="in" filter="fade">
                          <p:cBhvr>
                            <p:cTn id="230" dur="6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  <p:par>
                    <p:cTn id="231" presetID="10" presetClass="entr" presetSubtype="0" fill="hold" grpId="47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232" dur="6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  <p:par>
                    <p:cTn id="233" presetID="10" presetClass="entr" presetSubtype="0" fill="hold" grpId="48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234" dur="6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  <p:par>
                    <p:cTn id="235" presetID="10" presetClass="entr" presetSubtype="0" fill="hold" grpId="49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236" dur="6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  <p:par>
                    <p:cTn id="237" presetID="10" presetClass="entr" presetSubtype="0" fill="hold" grpId="50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238" dur="6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  <p:par>
                    <p:cTn id="239" presetID="10" presetClass="entr" presetSubtype="0" fill="hold" grpId="51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240" dur="6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  <p:par>
                    <p:cTn id="241" presetID="10" presetClass="entr" presetSubtype="0" fill="hold" grpId="52" nodeType="withEffect">
                      <p:stCondLst>
                        <p:cond delay="950"/>
                      </p:stCondLst>
                      <p:childTnLst>
                        <p:animEffect transition="in" filter="fade">
                          <p:cBhvr>
                            <p:cTn id="242" dur="6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  <p:par>
                    <p:cTn id="243" presetID="10" presetClass="entr" presetSubtype="0" fill="hold" grpId="53" nodeType="withEffect">
                      <p:stCondLst>
                        <p:cond delay="950"/>
                      </p:stCondLst>
                      <p:childTnLst>
                        <p:animEffect transition="in" filter="fade">
                          <p:cBhvr>
                            <p:cTn id="244" dur="6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  <p:par>
                    <p:cTn id="245" presetID="10" presetClass="entr" presetSubtype="0" fill="hold" grpId="54" nodeType="withEffect">
                      <p:stCondLst>
                        <p:cond delay="950"/>
                      </p:stCondLst>
                      <p:childTnLst>
                        <p:animEffect transition="in" filter="fade">
                          <p:cBhvr>
                            <p:cTn id="246" dur="6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  <p:par>
                    <p:cTn id="247" presetID="10" presetClass="entr" presetSubtype="0" fill="hold" grpId="55" nodeType="withEffect">
                      <p:stCondLst>
                        <p:cond delay="950"/>
                      </p:stCondLst>
                      <p:childTnLst>
                        <p:animEffect transition="in" filter="fade">
                          <p:cBhvr>
                            <p:cTn id="248" dur="6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  <p:par>
                    <p:cTn id="249" presetID="10" presetClass="entr" presetSubtype="0" fill="hold" grpId="56" nodeType="withEffect">
                      <p:stCondLst>
                        <p:cond delay="950"/>
                      </p:stCondLst>
                      <p:childTnLst>
                        <p:animEffect transition="in" filter="fade">
                          <p:cBhvr>
                            <p:cTn id="250" dur="6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  <p:par>
                    <p:cTn id="251" presetID="10" presetClass="entr" presetSubtype="0" fill="hold" grpId="57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252" dur="6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  <p:par>
                    <p:cTn id="253" presetID="10" presetClass="entr" presetSubtype="0" fill="hold" grpId="58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254" dur="6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  <p:par>
                    <p:cTn id="255" presetID="10" presetClass="entr" presetSubtype="0" fill="hold" grpId="59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256" dur="6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  <p:par>
                    <p:cTn id="257" presetID="10" presetClass="entr" presetSubtype="0" fill="hold" grpId="60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258" dur="6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  <p:par>
                    <p:cTn id="259" presetID="10" presetClass="entr" presetSubtype="0" fill="hold" grpId="61" nodeType="withEffect">
                      <p:stCondLst>
                        <p:cond delay="1020"/>
                      </p:stCondLst>
                      <p:childTnLst>
                        <p:animEffect transition="in" filter="fade">
                          <p:cBhvr>
                            <p:cTn id="260" dur="6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  <p:par>
                    <p:cTn id="261" presetID="10" presetClass="entr" presetSubtype="0" fill="hold" grpId="62" nodeType="withEffect">
                      <p:stCondLst>
                        <p:cond delay="1090"/>
                      </p:stCondLst>
                      <p:childTnLst>
                        <p:animEffect transition="in" filter="fade">
                          <p:cBhvr>
                            <p:cTn id="262" dur="6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  <p:par>
                    <p:cTn id="263" presetID="10" presetClass="entr" presetSubtype="0" fill="hold" grpId="63" nodeType="withEffect">
                      <p:stCondLst>
                        <p:cond delay="1090"/>
                      </p:stCondLst>
                      <p:childTnLst>
                        <p:animEffect transition="in" filter="fade">
                          <p:cBhvr>
                            <p:cTn id="264" dur="6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  <p:par>
                    <p:cTn id="265" presetID="10" presetClass="entr" presetSubtype="0" fill="hold" grpId="64" nodeType="withEffect">
                      <p:stCondLst>
                        <p:cond delay="1090"/>
                      </p:stCondLst>
                      <p:childTnLst>
                        <p:animEffect transition="in" filter="fade">
                          <p:cBhvr>
                            <p:cTn id="266" dur="6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  <p:par>
                    <p:cTn id="267" presetID="10" presetClass="entr" presetSubtype="0" fill="hold" grpId="65" nodeType="withEffect">
                      <p:stCondLst>
                        <p:cond delay="1090"/>
                      </p:stCondLst>
                      <p:childTnLst>
                        <p:animEffect transition="in" filter="fade">
                          <p:cBhvr>
                            <p:cTn id="268" dur="6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  <p:par>
                    <p:cTn id="269" presetID="10" presetClass="entr" presetSubtype="0" fill="hold" grpId="66" nodeType="withEffect">
                      <p:stCondLst>
                        <p:cond delay="1090"/>
                      </p:stCondLst>
                      <p:childTnLst>
                        <p:animEffect transition="in" filter="fade">
                          <p:cBhvr>
                            <p:cTn id="270" dur="6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  <p:par>
                    <p:cTn id="271" presetID="10" presetClass="entr" presetSubtype="0" fill="hold" grpId="67" nodeType="withEffect">
                      <p:stCondLst>
                        <p:cond delay="1160"/>
                      </p:stCondLst>
                      <p:childTnLst>
                        <p:animEffect transition="in" filter="fade">
                          <p:cBhvr>
                            <p:cTn id="272" dur="6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  <p:par>
                    <p:cTn id="273" presetID="10" presetClass="entr" presetSubtype="0" fill="hold" grpId="68" nodeType="withEffect">
                      <p:stCondLst>
                        <p:cond delay="1160"/>
                      </p:stCondLst>
                      <p:childTnLst>
                        <p:animEffect transition="in" filter="fade">
                          <p:cBhvr>
                            <p:cTn id="274" dur="600"/>
                            <p:tgtEl>
                              <p:spTgt spid="70"/>
                            </p:tgtEl>
                          </p:cBhvr>
                        </p:animEffect>
                      </p:childTnLst>
                    </p:cTn>
                  </p:par>
                  <p:par>
                    <p:cTn id="275" presetID="10" presetClass="entr" presetSubtype="0" fill="hold" grpId="69" nodeType="withEffect">
                      <p:stCondLst>
                        <p:cond delay="1160"/>
                      </p:stCondLst>
                      <p:childTnLst>
                        <p:animEffect transition="in" filter="fade">
                          <p:cBhvr>
                            <p:cTn id="276" dur="600"/>
                            <p:tgtEl>
                              <p:spTgt spid="71"/>
                            </p:tgtEl>
                          </p:cBhvr>
                        </p:animEffect>
                      </p:childTnLst>
                    </p:cTn>
                  </p:par>
                  <p:par>
                    <p:cTn id="277" presetID="10" presetClass="entr" presetSubtype="0" fill="hold" grpId="70" nodeType="withEffect">
                      <p:stCondLst>
                        <p:cond delay="1160"/>
                      </p:stCondLst>
                      <p:childTnLst>
                        <p:animEffect transition="in" filter="fade">
                          <p:cBhvr>
                            <p:cTn id="278" dur="600"/>
                            <p:tgtEl>
                              <p:spTgt spid="72"/>
                            </p:tgtEl>
                          </p:cBhvr>
                        </p:animEffect>
                      </p:childTnLst>
                    </p:cTn>
                  </p:par>
                  <p:par>
                    <p:cTn id="279" presetID="10" presetClass="entr" presetSubtype="0" fill="hold" grpId="71" nodeType="withEffect">
                      <p:stCondLst>
                        <p:cond delay="1160"/>
                      </p:stCondLst>
                      <p:childTnLst>
                        <p:animEffect transition="in" filter="fade">
                          <p:cBhvr>
                            <p:cTn id="280" dur="600"/>
                            <p:tgtEl>
                              <p:spTgt spid="7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A4A5A"/>
                </a:solidFill>
                <a:latin typeface="Calibri Light"/>
              </a:rPr>
              <a:t>El servidor de monitoreo  </a:t>
            </a:r>
          </a:p>
          <a:p>
            <a:pPr algn="l"/>
            <a:r>
              <a:rPr sz="2800" b="1">
                <a:solidFill>
                  <a:srgbClr val="E74C3C"/>
                </a:solidFill>
                <a:latin typeface="Calibri Light"/>
              </a:rPr>
              <a:t>se queda sin espacio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0"/>
                </a:solidFill>
                <a:latin typeface="Calibri"/>
              </a:rPr>
              <a:t>El servidor SRVODLRTDNMICA recolecta datos de vibración y condición 24/7.
Cuando el disco se llena, el monitoreo se detiene.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68880"/>
            <a:ext cx="5029200" cy="960120"/>
          </a:xfrm>
          <a:prstGeom prst="rect">
            <a:avLst/>
          </a:prstGeom>
          <a:solidFill>
            <a:srgbClr val="FADBD8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5A"/>
                </a:solidFill>
                <a:latin typeface="Calibri"/>
              </a:rPr>
              <a:t>Pérdida de monitoreo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0779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El software deja de recolectar datos. Punto ciego operacional.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520440"/>
            <a:ext cx="5029200" cy="96012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59359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5A"/>
                </a:solidFill>
                <a:latin typeface="Calibri"/>
              </a:rPr>
              <a:t>Intervención 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593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30–60 min de análisis + borrado manual por un ingeniero.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572000"/>
            <a:ext cx="5029200" cy="96012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451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5A"/>
                </a:solidFill>
                <a:latin typeface="Calibri"/>
              </a:rPr>
              <a:t>Riesgo de error humano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1091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Eliminación manual puede borrar datos recientes o archivos del sistema.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2468880"/>
            <a:ext cx="5102352" cy="201168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60320"/>
            <a:ext cx="473659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471A3"/>
                </a:solidFill>
                <a:latin typeface="Consolas"/>
              </a:rPr>
              <a:t>D:\MonitoringData\</a:t>
            </a:r>
          </a:p>
          <a:p>
            <a:pPr algn="l"/>
            <a:r>
              <a:rPr sz="1000" b="0">
                <a:solidFill>
                  <a:srgbClr val="F39C12"/>
                </a:solidFill>
                <a:latin typeface="Consolas"/>
              </a:rPr>
              <a:t>  ├── Asset001\   ← bomba, motor…</a:t>
            </a:r>
          </a:p>
          <a:p>
            <a:pPr algn="l"/>
            <a:r>
              <a:rPr sz="1000" b="0">
                <a:solidFill>
                  <a:srgbClr val="6C6C80"/>
                </a:solidFill>
                <a:latin typeface="Consolas"/>
              </a:rPr>
              <a:t>      ├── 00\   ← variable de medición</a:t>
            </a:r>
          </a:p>
          <a:p>
            <a:pPr algn="l"/>
            <a:r>
              <a:rPr sz="1000" b="0">
                <a:solidFill>
                  <a:srgbClr val="6C6C80"/>
                </a:solidFill>
                <a:latin typeface="Consolas"/>
              </a:rPr>
              <a:t>          ├── E\   ← eventos → crece diario</a:t>
            </a:r>
          </a:p>
          <a:p>
            <a:pPr algn="l"/>
            <a:r>
              <a:rPr sz="1000" b="0">
                <a:solidFill>
                  <a:srgbClr val="6C6C80"/>
                </a:solidFill>
                <a:latin typeface="Consolas"/>
              </a:rPr>
              <a:t>          └── F\   ← frecuencia → crece diario</a:t>
            </a:r>
          </a:p>
          <a:p>
            <a:pPr algn="l"/>
            <a:r>
              <a:rPr sz="1000" b="0">
                <a:solidFill>
                  <a:srgbClr val="F39C12"/>
                </a:solidFill>
                <a:latin typeface="Consolas"/>
              </a:rPr>
              <a:t>  ├── Asset002\</a:t>
            </a:r>
          </a:p>
          <a:p>
            <a:pPr algn="l"/>
            <a:r>
              <a:rPr sz="1000" b="0">
                <a:solidFill>
                  <a:srgbClr val="B0B0BE"/>
                </a:solidFill>
                <a:latin typeface="Consolas"/>
              </a:rPr>
              <a:t>  └── … crecimiento continuo sin límite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617720"/>
            <a:ext cx="5102352" cy="640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C70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690872"/>
            <a:ext cx="4828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No existe mecanismo automático que gestione el ciclo de vida de estos datos.</a:t>
            </a:r>
          </a:p>
        </p:txBody>
      </p:sp>
      <p:pic>
        <p:nvPicPr>
          <p:cNvPr id="18" name="Picture 17" descr="idc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281" dur="indefinite" restart="whenNotActive" nodeType="tmRoot">
          <p:childTnLst>
            <p:par>
              <p:cTn id="282" fill="hold">
                <p:stCondLst>
                  <p:cond delay="0"/>
                </p:stCondLst>
                <p:childTnLst>
                  <p:par>
                    <p:cTn id="28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284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285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286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287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288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289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290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291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292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293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294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295" presetID="10" presetClass="entr" presetSubtype="0" fill="hold" grpId="6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296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297" presetID="10" presetClass="entr" presetSubtype="0" fill="hold" grpId="7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298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299" presetID="10" presetClass="entr" presetSubtype="0" fill="hold" grpId="8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300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01" presetID="10" presetClass="entr" presetSubtype="0" fill="hold" grpId="9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302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03" presetID="10" presetClass="entr" presetSubtype="0" fill="hold" grpId="1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304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05" presetID="10" presetClass="entr" presetSubtype="0" fill="hold" grpId="11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306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07" presetID="10" presetClass="entr" presetSubtype="0" fill="hold" grpId="12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08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09" presetID="10" presetClass="entr" presetSubtype="0" fill="hold" grpId="13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310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11" presetID="10" presetClass="entr" presetSubtype="0" fill="hold" grpId="14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312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13" presetID="10" presetClass="entr" presetSubtype="0" fill="hold" grpId="15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314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5C1E9"/>
                </a:solidFill>
                <a:latin typeface="Calibri"/>
              </a:rPr>
              <a:t>LA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 Light"/>
              </a:rPr>
              <a:t>FifoCleanup: gestión de espacio automática e inteligente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ED6F1"/>
                </a:solidFill>
                <a:latin typeface="Calibri"/>
              </a:rPr>
              <a:t>Política FIFO: cuando el disco se acerca al umbral, se eliminan automáticamente
los datos más antiguos, preservando siempre los más recientes.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97480"/>
            <a:ext cx="3383280" cy="13258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770632"/>
            <a:ext cx="365760" cy="365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Dashboard 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74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Semáforo visual, gráficas de uso, proyección de días hasta disco lleno.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15384" y="2697480"/>
            <a:ext cx="3383280" cy="13258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5112" y="2770632"/>
            <a:ext cx="365760" cy="365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2544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Limpieza automática dual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3474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RF-07 evalúa cada 6h. RF-08 monitorea en tiempo real. Dos capas.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4968" y="2697480"/>
            <a:ext cx="3383280" cy="13258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696" y="2770632"/>
            <a:ext cx="365760" cy="3657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882128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Simulación sin riesgo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34747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Genera datos sintéticos para probar FIFO antes de producción.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4169664"/>
            <a:ext cx="3383280" cy="13258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242816"/>
            <a:ext cx="365760" cy="3657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46268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Bitácora de auditoría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94690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Registro inmutable: qué se borró, cuándo, por qué, cuánto se liberó.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15384" y="4169664"/>
            <a:ext cx="3383280" cy="13258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5112" y="4242816"/>
            <a:ext cx="365760" cy="3657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352544" y="46268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17 parámetros configurables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52544" y="494690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Umbrales, frecuencias, throttling, caps. Calibrado para SRVODLRTDNMICA.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44968" y="4169664"/>
            <a:ext cx="3383280" cy="13258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4696" y="4242816"/>
            <a:ext cx="365760" cy="36576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882128" y="462686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Cero impacto al monitoreo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494690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Hilos de baja prioridad, throttling de I/O. Desinstalable en 3 min.</a:t>
            </a:r>
          </a:p>
        </p:txBody>
      </p:sp>
      <p:pic>
        <p:nvPicPr>
          <p:cNvPr id="29" name="Picture 28" descr="idc-logo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315" dur="indefinite" restart="whenNotActive" nodeType="tmRoot">
          <p:childTnLst>
            <p:par>
              <p:cTn id="316" fill="hold">
                <p:stCondLst>
                  <p:cond delay="0"/>
                </p:stCondLst>
                <p:childTnLst>
                  <p:par>
                    <p:cTn id="317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18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319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320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21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322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23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24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325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26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27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28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29" presetID="10" presetClass="entr" presetSubtype="0" fill="hold" grpId="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30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31" presetID="10" presetClass="entr" presetSubtype="0" fill="hold" grpId="7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332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33" presetID="10" presetClass="entr" presetSubtype="0" fill="hold" grpId="8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334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35" presetID="10" presetClass="entr" presetSubtype="0" fill="hold" grpId="9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336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37" presetID="10" presetClass="entr" presetSubtype="0" fill="hold" grpId="1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338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39" presetID="10" presetClass="entr" presetSubtype="0" fill="hold" grpId="11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340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41" presetID="10" presetClass="entr" presetSubtype="0" fill="hold" grpId="12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342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43" presetID="10" presetClass="entr" presetSubtype="0" fill="hold" grpId="13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344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345" presetID="10" presetClass="entr" presetSubtype="0" fill="hold" grpId="14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346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347" presetID="10" presetClass="entr" presetSubtype="0" fill="hold" grpId="15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348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349" presetID="10" presetClass="entr" presetSubtype="0" fill="hold" grpId="16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350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351" presetID="10" presetClass="entr" presetSubtype="0" fill="hold" grpId="17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352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353" presetID="10" presetClass="entr" presetSubtype="0" fill="hold" grpId="18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354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355" presetID="10" presetClass="entr" presetSubtype="0" fill="hold" grpId="19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356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357" presetID="10" presetClass="entr" presetSubtype="0" fill="hold" grpId="2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358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359" presetID="10" presetClass="entr" presetSubtype="0" fill="hold" grpId="21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360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361" presetID="10" presetClass="entr" presetSubtype="0" fill="hold" grpId="22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362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363" presetID="10" presetClass="entr" presetSubtype="0" fill="hold" grpId="23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364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365" presetID="10" presetClass="entr" presetSubtype="0" fill="hold" grpId="24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366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367" presetID="10" presetClass="entr" presetSubtype="0" fill="hold" grpId="25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368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369" presetID="10" presetClass="entr" presetSubtype="0" fill="hold" grpId="26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370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RESULTADO ESPERADO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4A4A5A"/>
                </a:solidFill>
                <a:latin typeface="Calibri Light"/>
              </a:rPr>
              <a:t>Antes vs. Después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51206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C70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347472"/>
          </a:xfrm>
          <a:prstGeom prst="rect">
            <a:avLst/>
          </a:prstGeom>
          <a:solidFill>
            <a:srgbClr val="FADBD8"/>
          </a:solidFill>
          <a:ln w="12700">
            <a:solidFill>
              <a:srgbClr val="EC70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007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4C3C"/>
                </a:solidFill>
                <a:latin typeface="Calibri"/>
              </a:rPr>
              <a:t>Sin FifoCleanup  (hoy)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4846320" cy="914400"/>
          </a:xfrm>
          <a:prstGeom prst="rect">
            <a:avLst/>
          </a:prstGeom>
          <a:solidFill>
            <a:srgbClr val="FADBD8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762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74C3C"/>
                </a:solidFill>
                <a:latin typeface="Calibri"/>
              </a:rPr>
              <a:t>30–60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6060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Intervención manual: conectarse, analizar, eliminar.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20040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73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Cada 2–4 semanas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Frecuencia impredecible de disco lleno.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9768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3708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24–48 h-hombre/año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800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Tiempo del ingeniero dedicado solo a limpieza.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9496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4681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Visibilidad: ninguna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8978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No se sabe el estado del disco hasta que falla.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1645920"/>
            <a:ext cx="5120640" cy="5029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82512" y="1645920"/>
            <a:ext cx="5120640" cy="347472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9672" y="1700784"/>
            <a:ext cx="4846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Con FifoCleanup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19672" y="2103120"/>
            <a:ext cx="484632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56832" y="217627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7AE60"/>
                </a:solidFill>
                <a:latin typeface="Calibri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260604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Limpieza 100% automática. Cero participación humana.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19672" y="320040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56832" y="327355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Cero incidentes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56832" y="370332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RF-07 + RF-08 previenen antes de que ocurra.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19672" y="429768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437083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&lt; 2 h-hombre/año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80060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Solo verificación del Dashboard al inicio de turno.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19672" y="5394960"/>
            <a:ext cx="4846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5468112"/>
            <a:ext cx="4663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Visibilidad: tiempo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56832" y="5897880"/>
            <a:ext cx="4663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Semáforo + gráficas + proyección de días restantes.</a:t>
            </a:r>
          </a:p>
        </p:txBody>
      </p:sp>
      <p:pic>
        <p:nvPicPr>
          <p:cNvPr id="34" name="Picture 33" descr="idc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371" dur="indefinite" restart="whenNotActive" nodeType="tmRoot">
          <p:childTnLst>
            <p:par>
              <p:cTn id="372" fill="hold">
                <p:stCondLst>
                  <p:cond delay="0"/>
                </p:stCondLst>
                <p:childTnLst>
                  <p:par>
                    <p:cTn id="37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374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375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376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377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378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379" presetID="10" presetClass="entr" presetSubtype="0" fill="hold" grpId="3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380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381" presetID="10" presetClass="entr" presetSubtype="0" fill="hold" grpId="4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382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383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84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385" presetID="10" presetClass="entr" presetSubtype="0" fill="hold" grpId="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86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387" presetID="10" presetClass="entr" presetSubtype="0" fill="hold" grpId="7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388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389" presetID="10" presetClass="entr" presetSubtype="0" fill="hold" grpId="8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390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391" presetID="10" presetClass="entr" presetSubtype="0" fill="hold" grpId="9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392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393" presetID="10" presetClass="entr" presetSubtype="0" fill="hold" grpId="1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394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395" presetID="10" presetClass="entr" presetSubtype="0" fill="hold" grpId="11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396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397" presetID="10" presetClass="entr" presetSubtype="0" fill="hold" grpId="12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398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399" presetID="10" presetClass="entr" presetSubtype="0" fill="hold" grpId="13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400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401" presetID="10" presetClass="entr" presetSubtype="0" fill="hold" grpId="14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402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03" presetID="10" presetClass="entr" presetSubtype="0" fill="hold" grpId="15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404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405" presetID="10" presetClass="entr" presetSubtype="0" fill="hold" grpId="16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406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07" presetID="10" presetClass="entr" presetSubtype="0" fill="hold" grpId="17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08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409" presetID="10" presetClass="entr" presetSubtype="0" fill="hold" grpId="18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10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11" presetID="10" presetClass="entr" presetSubtype="0" fill="hold" grpId="19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12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413" presetID="10" presetClass="entr" presetSubtype="0" fill="hold" grpId="2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14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15" presetID="10" presetClass="entr" presetSubtype="0" fill="hold" grpId="21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16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417" presetID="10" presetClass="entr" presetSubtype="0" fill="hold" grpId="22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18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419" presetID="10" presetClass="entr" presetSubtype="0" fill="hold" grpId="23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420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421" presetID="10" presetClass="entr" presetSubtype="0" fill="hold" grpId="24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422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423" presetID="10" presetClass="entr" presetSubtype="0" fill="hold" grpId="25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424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425" presetID="10" presetClass="entr" presetSubtype="0" fill="hold" grpId="26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426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427" presetID="10" presetClass="entr" presetSubtype="0" fill="hold" grpId="27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428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429" presetID="10" presetClass="entr" presetSubtype="0" fill="hold" grpId="28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430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31" presetID="10" presetClass="entr" presetSubtype="0" fill="hold" grpId="29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432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433" presetID="10" presetClass="entr" presetSubtype="0" fill="hold" grpId="30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434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435" presetID="10" presetClass="entr" presetSubtype="0" fill="hold" grpId="31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436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Stack tecnológico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100% C# / .NET 8.0 — sin componentes nativos ni dependencias exóticas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5943600" cy="1234440"/>
          </a:xfrm>
          <a:prstGeom prst="rect">
            <a:avLst/>
          </a:prstGeom>
          <a:solidFill>
            <a:srgbClr val="1A5276"/>
          </a:solidFill>
          <a:ln w="127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4028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FifoCleanup.UI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WPF Application · MVVM · CommunityToolkit.Mvvm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07208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D6F1"/>
                </a:solidFill>
                <a:latin typeface="Calibri"/>
              </a:rPr>
              <a:t>Dashboard  ·  Configuración  ·  Simulación  ·  Ejecución  ·  Bitácora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01568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DADE2"/>
                </a:solidFill>
                <a:latin typeface="Calibri"/>
              </a:rPr>
              <a:t>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547872"/>
            <a:ext cx="5943600" cy="1234440"/>
          </a:xfrm>
          <a:prstGeom prst="rect">
            <a:avLst/>
          </a:prstGeom>
          <a:solidFill>
            <a:srgbClr val="163A5F"/>
          </a:solidFill>
          <a:ln w="127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3931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FifoCleanup.Engine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59352"/>
            <a:ext cx="5577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Class Library · System.Text.Json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D6F1"/>
                </a:solidFill>
                <a:latin typeface="Calibri"/>
              </a:rPr>
              <a:t>RF-01 Inventario  ·  RF-02 Config  ·  RF-03 Simulación  ·  RF-04 Limpieza  ·  RF-05 Bitácora  ·  RF-07  ·  RF-08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8006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5DADE2"/>
                </a:solidFill>
                <a:latin typeface="Calibri"/>
              </a:rP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946904"/>
            <a:ext cx="5943600" cy="1234440"/>
          </a:xfrm>
          <a:prstGeom prst="rect">
            <a:avLst/>
          </a:prstGeom>
          <a:solidFill>
            <a:srgbClr val="0F2440"/>
          </a:solidFill>
          <a:ln w="127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38344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Sistema de Archivos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0527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ED6F1"/>
                </a:solidFill>
                <a:latin typeface="Consolas"/>
              </a:rPr>
              <a:t>D:\MonitoringData\Asset*\Variable*\{E,F}\YYYY\MM\DD\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1828800"/>
            <a:ext cx="4370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E8E9E"/>
                </a:solidFill>
                <a:latin typeface="Calibri"/>
              </a:rPr>
              <a:t>DECISIONES CLAVE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148840"/>
            <a:ext cx="4370832" cy="74980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2221992"/>
            <a:ext cx="4096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🎯  100% C# / .NET 8.0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2532888"/>
            <a:ext cx="4096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C1E9"/>
                </a:solidFill>
                <a:latin typeface="Calibri"/>
              </a:rPr>
              <a:t>Stack unificado. Sin C++ nativo. Simplifica instalación y testing.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2953512"/>
            <a:ext cx="4370832" cy="74980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3026664"/>
            <a:ext cx="4096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🧩  Engine separado de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337560"/>
            <a:ext cx="4096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C1E9"/>
                </a:solidFill>
                <a:latin typeface="Calibri"/>
              </a:rPr>
              <a:t>Motor FIFO testeable independiente. Reusable como servicio en v2.0.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3758184"/>
            <a:ext cx="4370832" cy="74980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831336"/>
            <a:ext cx="4096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📄  JSON unificado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142232"/>
            <a:ext cx="4096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C1E9"/>
                </a:solidFill>
                <a:latin typeface="Calibri"/>
              </a:rPr>
              <a:t>Un solo archivo fifo_config.json con 17 parámetros tipados.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0" y="4562856"/>
            <a:ext cx="4370832" cy="74980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4636008"/>
            <a:ext cx="4096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📋  Bitácora CSV inmutable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946904"/>
            <a:ext cx="4096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C1E9"/>
                </a:solidFill>
                <a:latin typeface="Calibri"/>
              </a:rPr>
              <a:t>Append-only. Abierto con Excel. Rotación a 100 MB.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03720" y="5367528"/>
            <a:ext cx="4370832" cy="74980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5440680"/>
            <a:ext cx="40965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🧵  Hilos de baja prioridad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5751576"/>
            <a:ext cx="4096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5C1E9"/>
                </a:solidFill>
                <a:latin typeface="Calibri"/>
              </a:rPr>
              <a:t>Limpieza cede CPU al monitoreo. Throttling 50ms entre operaciones.</a:t>
            </a:r>
          </a:p>
        </p:txBody>
      </p:sp>
      <p:pic>
        <p:nvPicPr>
          <p:cNvPr id="34" name="Picture 33" descr="idc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437" dur="indefinite" restart="whenNotActive" nodeType="tmRoot">
          <p:childTnLst>
            <p:par>
              <p:cTn id="438" fill="hold">
                <p:stCondLst>
                  <p:cond delay="0"/>
                </p:stCondLst>
                <p:childTnLst>
                  <p:par>
                    <p:cTn id="439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440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441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442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443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44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445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46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447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48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449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50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451" presetID="10" presetClass="entr" presetSubtype="0" fill="hold" grpId="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52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453" presetID="10" presetClass="entr" presetSubtype="0" fill="hold" grpId="7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454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455" presetID="10" presetClass="entr" presetSubtype="0" fill="hold" grpId="8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456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457" presetID="10" presetClass="entr" presetSubtype="0" fill="hold" grpId="9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458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459" presetID="10" presetClass="entr" presetSubtype="0" fill="hold" grpId="10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460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461" presetID="10" presetClass="entr" presetSubtype="0" fill="hold" grpId="11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462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463" presetID="10" presetClass="entr" presetSubtype="0" fill="hold" grpId="12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464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465" presetID="10" presetClass="entr" presetSubtype="0" fill="hold" grpId="13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466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467" presetID="10" presetClass="entr" presetSubtype="0" fill="hold" grpId="14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468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469" presetID="10" presetClass="entr" presetSubtype="0" fill="hold" grpId="15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470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471" presetID="10" presetClass="entr" presetSubtype="0" fill="hold" grpId="16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472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473" presetID="10" presetClass="entr" presetSubtype="0" fill="hold" grpId="17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474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475" presetID="10" presetClass="entr" presetSubtype="0" fill="hold" grpId="18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476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477" presetID="10" presetClass="entr" presetSubtype="0" fill="hold" grpId="19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478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479" presetID="10" presetClass="entr" presetSubtype="0" fill="hold" grpId="20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480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481" presetID="10" presetClass="entr" presetSubtype="0" fill="hold" grpId="21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482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483" presetID="10" presetClass="entr" presetSubtype="0" fill="hold" grpId="22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484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485" presetID="10" presetClass="entr" presetSubtype="0" fill="hold" grpId="23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486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487" presetID="10" presetClass="entr" presetSubtype="0" fill="hold" grpId="24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488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489" presetID="10" presetClass="entr" presetSubtype="0" fill="hold" grpId="25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490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491" presetID="10" presetClass="entr" presetSubtype="0" fill="hold" grpId="26" nodeType="withEffect">
                      <p:stCondLst>
                        <p:cond delay="760"/>
                      </p:stCondLst>
                      <p:childTnLst>
                        <p:animEffect transition="in" filter="fade">
                          <p:cBhvr>
                            <p:cTn id="492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493" presetID="10" presetClass="entr" presetSubtype="0" fill="hold" grpId="27" nodeType="withEffect">
                      <p:stCondLst>
                        <p:cond delay="760"/>
                      </p:stCondLst>
                      <p:childTnLst>
                        <p:animEffect transition="in" filter="fade">
                          <p:cBhvr>
                            <p:cTn id="494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495" presetID="10" presetClass="entr" presetSubtype="0" fill="hold" grpId="28" nodeType="withEffect">
                      <p:stCondLst>
                        <p:cond delay="760"/>
                      </p:stCondLst>
                      <p:childTnLst>
                        <p:animEffect transition="in" filter="fade">
                          <p:cBhvr>
                            <p:cTn id="496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497" presetID="10" presetClass="entr" presetSubtype="0" fill="hold" grpId="29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498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499" presetID="10" presetClass="entr" presetSubtype="0" fill="hold" grpId="30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500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501" presetID="10" presetClass="entr" presetSubtype="0" fill="hold" grpId="31" nodeType="withEffect">
                      <p:stCondLst>
                        <p:cond delay="880"/>
                      </p:stCondLst>
                      <p:childTnLst>
                        <p:animEffect transition="in" filter="fade">
                          <p:cBhvr>
                            <p:cTn id="502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PROTECCIÓN AUTOMÁTICA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4A5A"/>
                </a:solidFill>
                <a:latin typeface="Calibri Light"/>
              </a:rPr>
              <a:t>Estrategia FIFO Dual: defensa en profundidad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0"/>
                </a:solidFill>
                <a:latin typeface="Calibri"/>
              </a:rPr>
              <a:t>Dos modos complementarios garantizan que ningún escenario pase desapercibido.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423160"/>
            <a:ext cx="5120640" cy="4114800"/>
          </a:xfrm>
          <a:prstGeom prst="rect">
            <a:avLst/>
          </a:prstGeom>
          <a:solidFill>
            <a:srgbClr val="D6EAF8"/>
          </a:solidFill>
          <a:ln w="381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606040"/>
            <a:ext cx="594360" cy="256032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26243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RF-07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5276"/>
                </a:solidFill>
                <a:latin typeface="Calibri"/>
              </a:rPr>
              <a:t>Limpieza Programada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0"/>
                </a:solidFill>
                <a:latin typeface="Calibri"/>
              </a:rPr>
              <a:t>Evaluación global periódica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94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Se ejecuta cada 6 horas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33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Evalúa TODO el disco (todos los Assets)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725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Proyecta con historial de 7 días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114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Si proyección &gt; umbral → limpieza general FIFO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5504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Elimina datos más antiguos de todos los Assets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5852160"/>
            <a:ext cx="475488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5276"/>
                </a:solidFill>
                <a:latin typeface="Calibri"/>
              </a:rPr>
              <a:t>Ideal para: Crecimiento gradual y uniforme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82512" y="2423160"/>
            <a:ext cx="5120640" cy="4114800"/>
          </a:xfrm>
          <a:prstGeom prst="rect">
            <a:avLst/>
          </a:prstGeom>
          <a:solidFill>
            <a:srgbClr val="D5F5E3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65392" y="2606040"/>
            <a:ext cx="59436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262432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RF-08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9718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Calibri"/>
              </a:rPr>
              <a:t>Monitoreo Preventivo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6C80"/>
                </a:solidFill>
                <a:latin typeface="Calibri"/>
              </a:rPr>
              <a:t>Reacción local en tiempo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37947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FileSystemWatcher detecta archivos nuevos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2336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Agrupa eventos cada 10 segundos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467258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Evalúa solo el Asset afectado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511149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Si se llenará en &lt; 3 días → limpieza local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5504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—  Elimina N días antiguos del Asset específico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65392" y="5852160"/>
            <a:ext cx="4754880" cy="502920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59253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Ideal para: Picos repentinos de un equipo</a:t>
            </a:r>
          </a:p>
        </p:txBody>
      </p:sp>
      <p:pic>
        <p:nvPicPr>
          <p:cNvPr id="29" name="Picture 28" descr="idc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503" dur="indefinite" restart="whenNotActive" nodeType="tmRoot">
          <p:childTnLst>
            <p:par>
              <p:cTn id="504" fill="hold">
                <p:stCondLst>
                  <p:cond delay="0"/>
                </p:stCondLst>
                <p:childTnLst>
                  <p:par>
                    <p:cTn id="505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506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07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508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09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510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11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12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513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14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15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16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17" presetID="10" presetClass="entr" presetSubtype="0" fill="hold" grpId="6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518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19" presetID="10" presetClass="entr" presetSubtype="0" fill="hold" grpId="7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520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21" presetID="10" presetClass="entr" presetSubtype="0" fill="hold" grpId="8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522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23" presetID="10" presetClass="entr" presetSubtype="0" fill="hold" grpId="9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524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25" presetID="10" presetClass="entr" presetSubtype="0" fill="hold" grpId="10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526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27" presetID="10" presetClass="entr" presetSubtype="0" fill="hold" grpId="11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528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29" presetID="10" presetClass="entr" presetSubtype="0" fill="hold" grpId="12" nodeType="withEffect">
                      <p:stCondLst>
                        <p:cond delay="720"/>
                      </p:stCondLst>
                      <p:childTnLst>
                        <p:animEffect transition="in" filter="fade">
                          <p:cBhvr>
                            <p:cTn id="530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31" presetID="10" presetClass="entr" presetSubtype="0" fill="hold" grpId="13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532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533" presetID="10" presetClass="entr" presetSubtype="0" fill="hold" grpId="14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534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35" presetID="10" presetClass="entr" presetSubtype="0" fill="hold" grpId="1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36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537" presetID="10" presetClass="entr" presetSubtype="0" fill="hold" grpId="1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38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39" presetID="10" presetClass="entr" presetSubtype="0" fill="hold" grpId="17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40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541" presetID="10" presetClass="entr" presetSubtype="0" fill="hold" grpId="18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542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43" presetID="10" presetClass="entr" presetSubtype="0" fill="hold" grpId="19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544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545" presetID="10" presetClass="entr" presetSubtype="0" fill="hold" grpId="2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546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547" presetID="10" presetClass="entr" presetSubtype="0" fill="hold" grpId="21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548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549" presetID="10" presetClass="entr" presetSubtype="0" fill="hold" grpId="22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550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551" presetID="10" presetClass="entr" presetSubtype="0" fill="hold" grpId="23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552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553" presetID="10" presetClass="entr" presetSubtype="0" fill="hold" grpId="24" nodeType="withEffect">
                      <p:stCondLst>
                        <p:cond delay="720"/>
                      </p:stCondLst>
                      <p:childTnLst>
                        <p:animEffect transition="in" filter="fade">
                          <p:cBhvr>
                            <p:cTn id="554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555" presetID="10" presetClass="entr" presetSubtype="0" fill="hold" grpId="25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556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557" presetID="10" presetClass="entr" presetSubtype="0" fill="hold" grpId="26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558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INTERFAZ DE USUARIO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4A5A"/>
                </a:solidFill>
                <a:latin typeface="Calibri Light"/>
              </a:rPr>
              <a:t>Dashboard: estado del servidor de un vistazo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10817352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60120" y="2103120"/>
            <a:ext cx="91440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7AE60"/>
                </a:solidFill>
                <a:latin typeface="Calibri"/>
              </a:rPr>
              <a:t>72%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45643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Uso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011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ASSETS DETECTADOS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11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DATOS MONITOREADOS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1.4 TB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2011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CRECIMIENTO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A4A5A"/>
                </a:solidFill>
                <a:latin typeface="Calibri"/>
              </a:rPr>
              <a:t>2.1 GB/día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011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8E8E9E"/>
                </a:solidFill>
                <a:latin typeface="Calibri"/>
              </a:rPr>
              <a:t>DISCO LLENO 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2860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7AE60"/>
                </a:solidFill>
                <a:latin typeface="Calibri"/>
              </a:rPr>
              <a:t>324 días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48840" y="2926080"/>
            <a:ext cx="8961120" cy="18288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48840" y="2926080"/>
            <a:ext cx="6455664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40" y="2743200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Capacidad del disco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743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4A4A5A"/>
                </a:solidFill>
                <a:latin typeface="Calibri"/>
              </a:rPr>
              <a:t>1.4 TB / 2.0 TB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337560"/>
            <a:ext cx="10451592" cy="1270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20439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onsolas"/>
              </a:rPr>
              <a:t>Asset001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57400" y="3593591"/>
            <a:ext cx="7772400" cy="18288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57400" y="3593591"/>
            <a:ext cx="1865376" cy="18288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352043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4A5A"/>
                </a:solidFill>
                <a:latin typeface="Calibri"/>
              </a:rPr>
              <a:t>340 GB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04487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onsolas"/>
              </a:rPr>
              <a:t>Asset002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57400" y="3977639"/>
            <a:ext cx="7772400" cy="18288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57400" y="3977639"/>
            <a:ext cx="1476756" cy="18288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3904487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4A5A"/>
                </a:solidFill>
                <a:latin typeface="Calibri"/>
              </a:rPr>
              <a:t>260 GB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288535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onsolas"/>
              </a:rPr>
              <a:t>Asset003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57400" y="4361687"/>
            <a:ext cx="7772400" cy="18288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57400" y="4361687"/>
            <a:ext cx="1010412" cy="18288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21240" y="4288535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4A4A5A"/>
                </a:solidFill>
                <a:latin typeface="Calibri"/>
              </a:rPr>
              <a:t>180 GB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5120640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364" y="5193792"/>
            <a:ext cx="347472" cy="3474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22960" y="55961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4A5A"/>
                </a:solidFill>
                <a:latin typeface="Calibri"/>
              </a:rPr>
              <a:t>Configuración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881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17 parámetros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10128" y="5120640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692" y="5193792"/>
            <a:ext cx="347472" cy="347472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3447288" y="55961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4A5A"/>
                </a:solidFill>
                <a:latin typeface="Calibri"/>
              </a:rPr>
              <a:t>Simulación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7288" y="57881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Pruebas sin riesgo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34456" y="5120640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8020" y="5193792"/>
            <a:ext cx="347472" cy="347472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71616" y="55961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4A5A"/>
                </a:solidFill>
                <a:latin typeface="Calibri"/>
              </a:rPr>
              <a:t>Ejecución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71616" y="57881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Manual + RF-07 + RF-08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58784" y="5120640"/>
            <a:ext cx="2514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2348" y="5193792"/>
            <a:ext cx="347472" cy="34747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695944" y="5596128"/>
            <a:ext cx="2240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A4A5A"/>
                </a:solidFill>
                <a:latin typeface="Calibri"/>
              </a:rPr>
              <a:t>Bitácora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95944" y="5788152"/>
            <a:ext cx="2240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Auditoría + CSV</a:t>
            </a:r>
          </a:p>
        </p:txBody>
      </p:sp>
      <p:pic>
        <p:nvPicPr>
          <p:cNvPr id="49" name="Picture 48" descr="idc-logo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559" dur="indefinite" restart="whenNotActive" nodeType="tmRoot">
          <p:childTnLst>
            <p:par>
              <p:cTn id="560" fill="hold">
                <p:stCondLst>
                  <p:cond delay="0"/>
                </p:stCondLst>
                <p:childTnLst>
                  <p:par>
                    <p:cTn id="561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562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563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564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65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566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567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68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569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70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571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572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573" presetID="10" presetClass="entr" presetSubtype="0" fill="hold" grpId="6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574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575" presetID="10" presetClass="entr" presetSubtype="0" fill="hold" grpId="7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576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577" presetID="10" presetClass="entr" presetSubtype="0" fill="hold" grpId="8" nodeType="withEffect">
                      <p:stCondLst>
                        <p:cond delay="430"/>
                      </p:stCondLst>
                      <p:childTnLst>
                        <p:animEffect transition="in" filter="fade">
                          <p:cBhvr>
                            <p:cTn id="578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579" presetID="10" presetClass="entr" presetSubtype="0" fill="hold" grpId="9" nodeType="withEffect">
                      <p:stCondLst>
                        <p:cond delay="430"/>
                      </p:stCondLst>
                      <p:childTnLst>
                        <p:animEffect transition="in" filter="fade">
                          <p:cBhvr>
                            <p:cTn id="580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581" presetID="10" presetClass="entr" presetSubtype="0" fill="hold" grpId="10" nodeType="withEffect">
                      <p:stCondLst>
                        <p:cond delay="510"/>
                      </p:stCondLst>
                      <p:childTnLst>
                        <p:animEffect transition="in" filter="fade">
                          <p:cBhvr>
                            <p:cTn id="582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583" presetID="10" presetClass="entr" presetSubtype="0" fill="hold" grpId="11" nodeType="withEffect">
                      <p:stCondLst>
                        <p:cond delay="510"/>
                      </p:stCondLst>
                      <p:childTnLst>
                        <p:animEffect transition="in" filter="fade">
                          <p:cBhvr>
                            <p:cTn id="584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585" presetID="10" presetClass="entr" presetSubtype="0" fill="hold" grpId="12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586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587" presetID="10" presetClass="entr" presetSubtype="0" fill="hold" grpId="13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588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589" presetID="10" presetClass="entr" presetSubtype="0" fill="hold" grpId="14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590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591" presetID="10" presetClass="entr" presetSubtype="0" fill="hold" grpId="15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592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593" presetID="10" presetClass="entr" presetSubtype="0" fill="hold" grpId="16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594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595" presetID="10" presetClass="entr" presetSubtype="0" fill="hold" grpId="17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596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597" presetID="10" presetClass="entr" presetSubtype="0" fill="hold" grpId="18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598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599" presetID="10" presetClass="entr" presetSubtype="0" fill="hold" grpId="19" nodeType="withEffect">
                      <p:stCondLst>
                        <p:cond delay="550"/>
                      </p:stCondLst>
                      <p:childTnLst>
                        <p:animEffect transition="in" filter="fade">
                          <p:cBhvr>
                            <p:cTn id="600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601" presetID="10" presetClass="entr" presetSubtype="0" fill="hold" grpId="20" nodeType="withEffect">
                      <p:stCondLst>
                        <p:cond delay="550"/>
                      </p:stCondLst>
                      <p:childTnLst>
                        <p:animEffect transition="in" filter="fade">
                          <p:cBhvr>
                            <p:cTn id="602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603" presetID="10" presetClass="entr" presetSubtype="0" fill="hold" grpId="21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604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605" presetID="10" presetClass="entr" presetSubtype="0" fill="hold" grpId="22" nodeType="withEffect">
                      <p:stCondLst>
                        <p:cond delay="550"/>
                      </p:stCondLst>
                      <p:childTnLst>
                        <p:animEffect transition="in" filter="fade">
                          <p:cBhvr>
                            <p:cTn id="606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607" presetID="10" presetClass="entr" presetSubtype="0" fill="hold" grpId="23" nodeType="withEffect">
                      <p:stCondLst>
                        <p:cond delay="630"/>
                      </p:stCondLst>
                      <p:childTnLst>
                        <p:animEffect transition="in" filter="fade">
                          <p:cBhvr>
                            <p:cTn id="608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609" presetID="10" presetClass="entr" presetSubtype="0" fill="hold" grpId="24" nodeType="withEffect">
                      <p:stCondLst>
                        <p:cond delay="630"/>
                      </p:stCondLst>
                      <p:childTnLst>
                        <p:animEffect transition="in" filter="fade">
                          <p:cBhvr>
                            <p:cTn id="610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611" presetID="10" presetClass="entr" presetSubtype="0" fill="hold" grpId="25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612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613" presetID="10" presetClass="entr" presetSubtype="0" fill="hold" grpId="26" nodeType="withEffect">
                      <p:stCondLst>
                        <p:cond delay="630"/>
                      </p:stCondLst>
                      <p:childTnLst>
                        <p:animEffect transition="in" filter="fade">
                          <p:cBhvr>
                            <p:cTn id="614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615" presetID="10" presetClass="entr" presetSubtype="0" fill="hold" grpId="27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616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617" presetID="10" presetClass="entr" presetSubtype="0" fill="hold" grpId="28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618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619" presetID="10" presetClass="entr" presetSubtype="0" fill="hold" grpId="29" nodeType="withEffect">
                      <p:stCondLst>
                        <p:cond delay="760"/>
                      </p:stCondLst>
                      <p:childTnLst>
                        <p:animEffect transition="in" filter="fade">
                          <p:cBhvr>
                            <p:cTn id="620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621" presetID="10" presetClass="entr" presetSubtype="0" fill="hold" grpId="30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622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623" presetID="10" presetClass="entr" presetSubtype="0" fill="hold" grpId="31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624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625" presetID="10" presetClass="entr" presetSubtype="0" fill="hold" grpId="32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626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627" presetID="10" presetClass="entr" presetSubtype="0" fill="hold" grpId="33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628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629" presetID="10" presetClass="entr" presetSubtype="0" fill="hold" grpId="34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630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631" presetID="10" presetClass="entr" presetSubtype="0" fill="hold" grpId="35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632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633" presetID="10" presetClass="entr" presetSubtype="0" fill="hold" grpId="36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634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635" presetID="10" presetClass="entr" presetSubtype="0" fill="hold" grpId="37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636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637" presetID="10" presetClass="entr" presetSubtype="0" fill="hold" grpId="38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638" dur="6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639" presetID="10" presetClass="entr" presetSubtype="0" fill="hold" grpId="39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640" dur="6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641" presetID="10" presetClass="entr" presetSubtype="0" fill="hold" grpId="40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642" dur="6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643" presetID="10" presetClass="entr" presetSubtype="0" fill="hold" grpId="41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644" dur="6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645" presetID="10" presetClass="entr" presetSubtype="0" fill="hold" grpId="42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646" dur="6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647" presetID="10" presetClass="entr" presetSubtype="0" fill="hold" grpId="43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648" dur="6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649" presetID="10" presetClass="entr" presetSubtype="0" fill="hold" grpId="44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650" dur="6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651" presetID="10" presetClass="entr" presetSubtype="0" fill="hold" grpId="45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652" dur="6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653" presetID="10" presetClass="entr" presetSubtype="0" fill="hold" grpId="46" nodeType="withEffect">
                      <p:stCondLst>
                        <p:cond delay="900"/>
                      </p:stCondLst>
                      <p:childTnLst>
                        <p:animEffect transition="in" filter="fade">
                          <p:cBhvr>
                            <p:cTn id="654" dur="6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ANÁLISIS DE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4A5A"/>
                </a:solidFill>
                <a:latin typeface="Calibri Light"/>
              </a:rPr>
              <a:t>Impacto mínimo en el servidor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0"/>
                </a:solidFill>
                <a:latin typeface="Calibri"/>
              </a:rPr>
              <a:t>Diseñado específicamente para no interferir con el software de monitoreo.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471A3"/>
                </a:solidFill>
                <a:latin typeface="Calibri"/>
              </a:rPr>
              <a:t>&lt;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4A5A"/>
                </a:solidFill>
                <a:latin typeface="Calibri"/>
              </a:rPr>
              <a:t>CPU promedio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227832"/>
            <a:ext cx="3017520" cy="164592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27832"/>
            <a:ext cx="150876" cy="164592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De 36 threads disponibles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4" y="214884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8264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471A3"/>
                </a:solidFill>
                <a:latin typeface="Calibri"/>
              </a:rPr>
              <a:t>&lt; 200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8264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4A5A"/>
                </a:solidFill>
                <a:latin typeface="Calibri"/>
              </a:rPr>
              <a:t>MB de RAM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98264" y="3227832"/>
            <a:ext cx="3017520" cy="164592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98264" y="3227832"/>
            <a:ext cx="392277" cy="164592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98264" y="3474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De ~8 GB disponibles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4968" y="2148840"/>
            <a:ext cx="33832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22860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2471A3"/>
                </a:solidFill>
                <a:latin typeface="Calibri"/>
              </a:rPr>
              <a:t>&lt; 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28346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4A5A"/>
                </a:solidFill>
                <a:latin typeface="Calibri"/>
              </a:rPr>
              <a:t>MB en disco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7848" y="3227832"/>
            <a:ext cx="3017520" cy="164592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7848" y="3227832"/>
            <a:ext cx="30175" cy="164592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347472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Tamaño de instalación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023360"/>
            <a:ext cx="10817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4A5A"/>
                </a:solidFill>
                <a:latin typeface="Calibri"/>
              </a:rPr>
              <a:t>Mecanismos de protección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434839"/>
            <a:ext cx="5257800" cy="77724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4507991"/>
            <a:ext cx="329184" cy="32918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88720" y="4526279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5A"/>
                </a:solidFill>
                <a:latin typeface="Calibri"/>
              </a:rPr>
              <a:t>Hilos BelowNormal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19"/>
            <a:ext cx="4983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Limpieza cede CPU al monitoreo automáticamente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4434839"/>
            <a:ext cx="5257800" cy="77724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4507991"/>
            <a:ext cx="329184" cy="3291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48272" y="4526279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5A"/>
                </a:solidFill>
                <a:latin typeface="Calibri"/>
              </a:rPr>
              <a:t>Throttling 50ms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82512" y="4846319"/>
            <a:ext cx="4983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Pausa entre cada eliminación para reducir picos de I/O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349239"/>
            <a:ext cx="5257800" cy="77724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5422391"/>
            <a:ext cx="329184" cy="32918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188720" y="5440679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5A"/>
                </a:solidFill>
                <a:latin typeface="Calibri"/>
              </a:rPr>
              <a:t>Cap 20%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5760719"/>
            <a:ext cx="4983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Máximo 20% de datos eliminados por ejecución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45352" y="5349239"/>
            <a:ext cx="5257800" cy="77724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5422391"/>
            <a:ext cx="329184" cy="32918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748272" y="5440679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4A5A"/>
                </a:solidFill>
                <a:latin typeface="Calibri"/>
              </a:rPr>
              <a:t>3 niveles de captura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5760719"/>
            <a:ext cx="4983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La app nunca crashea. Registra el error y continúa.</a:t>
            </a:r>
          </a:p>
        </p:txBody>
      </p:sp>
      <p:pic>
        <p:nvPicPr>
          <p:cNvPr id="40" name="Picture 39" descr="idc-logo-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655" dur="indefinite" restart="whenNotActive" nodeType="tmRoot">
          <p:childTnLst>
            <p:par>
              <p:cTn id="656" fill="hold">
                <p:stCondLst>
                  <p:cond delay="0"/>
                </p:stCondLst>
                <p:childTnLst>
                  <p:par>
                    <p:cTn id="657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658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659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660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661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662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663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64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665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66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667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68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669" presetID="10" presetClass="entr" presetSubtype="0" fill="hold" grpId="6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670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671" presetID="10" presetClass="entr" presetSubtype="0" fill="hold" grpId="7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672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673" presetID="10" presetClass="entr" presetSubtype="0" fill="hold" grpId="8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674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675" presetID="10" presetClass="entr" presetSubtype="0" fill="hold" grpId="9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676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677" presetID="10" presetClass="entr" presetSubtype="0" fill="hold" grpId="1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678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679" presetID="10" presetClass="entr" presetSubtype="0" fill="hold" grpId="11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680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681" presetID="10" presetClass="entr" presetSubtype="0" fill="hold" grpId="12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682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683" presetID="10" presetClass="entr" presetSubtype="0" fill="hold" grpId="13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684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685" presetID="10" presetClass="entr" presetSubtype="0" fill="hold" grpId="14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686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687" presetID="10" presetClass="entr" presetSubtype="0" fill="hold" grpId="15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688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689" presetID="10" presetClass="entr" presetSubtype="0" fill="hold" grpId="16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690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691" presetID="10" presetClass="entr" presetSubtype="0" fill="hold" grpId="17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692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693" presetID="10" presetClass="entr" presetSubtype="0" fill="hold" grpId="18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694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695" presetID="10" presetClass="entr" presetSubtype="0" fill="hold" grpId="19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696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697" presetID="10" presetClass="entr" presetSubtype="0" fill="hold" grpId="20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698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699" presetID="10" presetClass="entr" presetSubtype="0" fill="hold" grpId="21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700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701" presetID="10" presetClass="entr" presetSubtype="0" fill="hold" grpId="22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702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703" presetID="10" presetClass="entr" presetSubtype="0" fill="hold" grpId="23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704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705" presetID="10" presetClass="entr" presetSubtype="0" fill="hold" grpId="24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706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707" presetID="10" presetClass="entr" presetSubtype="0" fill="hold" grpId="25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708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09" presetID="10" presetClass="entr" presetSubtype="0" fill="hold" grpId="26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710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711" presetID="10" presetClass="entr" presetSubtype="0" fill="hold" grpId="27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712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713" presetID="10" presetClass="entr" presetSubtype="0" fill="hold" grpId="28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714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715" presetID="10" presetClass="entr" presetSubtype="0" fill="hold" grpId="29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716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717" presetID="10" presetClass="entr" presetSubtype="0" fill="hold" grpId="30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718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719" presetID="10" presetClass="entr" presetSubtype="0" fill="hold" grpId="31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720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721" presetID="10" presetClass="entr" presetSubtype="0" fill="hold" grpId="32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722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723" presetID="10" presetClass="entr" presetSubtype="0" fill="hold" grpId="33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724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725" presetID="10" presetClass="entr" presetSubtype="0" fill="hold" grpId="34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726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727" presetID="10" presetClass="entr" presetSubtype="0" fill="hold" grpId="35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728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729" presetID="10" presetClass="entr" presetSubtype="0" fill="hold" grpId="36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730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731" presetID="10" presetClass="entr" presetSubtype="0" fill="hold" grpId="37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732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SEGURIDAD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Análisis de seguridad para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5C1E9"/>
                </a:solidFill>
                <a:latin typeface="Calibri"/>
              </a:rPr>
              <a:t>FifoCleanup no abre puertos, no accede a internet y no modifica el sistema operativo.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860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E8E9E"/>
                </a:solidFill>
                <a:latin typeface="Calibri"/>
              </a:rPr>
              <a:t>LO QUE NO HACE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606040"/>
            <a:ext cx="5029200" cy="56692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67919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—  No requiere conexión a internet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73552"/>
            <a:ext cx="5029200" cy="56692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3467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—  No abre puertos de 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941064"/>
            <a:ext cx="5029200" cy="56692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01421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—  No modifica el registro de Windows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608576"/>
            <a:ext cx="5029200" cy="56692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681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—  No instala drivers ni servicios del SO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5276088"/>
            <a:ext cx="5029200" cy="56692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—  No requiere permisos de administrador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943600"/>
            <a:ext cx="5029200" cy="566928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0167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—  No tiene telemetría ni actualizaciones automáticas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28600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E8E9E"/>
                </a:solidFill>
                <a:latin typeface="Calibri"/>
              </a:rPr>
              <a:t>DEPENDENCIAS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73952" y="2606040"/>
            <a:ext cx="4572000" cy="438912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6791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.NET 8.0 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7112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E"/>
                </a:solidFill>
                <a:latin typeface="Calibri"/>
              </a:rPr>
              <a:t>Microsoft (LTS)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31552" y="2697480"/>
            <a:ext cx="73152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271576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73952" y="3108960"/>
            <a:ext cx="4572000" cy="438912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1821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CommunityToolkit.Mvvm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7112" y="32004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E"/>
                </a:solidFill>
                <a:latin typeface="Calibri"/>
              </a:rPr>
              <a:t>Microsoft OSS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31552" y="3200400"/>
            <a:ext cx="73152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49840" y="321868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73952" y="3611880"/>
            <a:ext cx="4572000" cy="438912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11112" y="36850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LiveChartsCore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97112" y="37033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E"/>
                </a:solidFill>
                <a:latin typeface="Calibri"/>
              </a:rPr>
              <a:t>NuGet Gallery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31552" y="3703320"/>
            <a:ext cx="73152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372160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73952" y="4114800"/>
            <a:ext cx="4572000" cy="438912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1112" y="41879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System.Text.Json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97112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0BE"/>
                </a:solidFill>
                <a:latin typeface="Calibri"/>
              </a:rPr>
              <a:t>Microsoft (.NET)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131552" y="4206240"/>
            <a:ext cx="731520" cy="2560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4224528"/>
            <a:ext cx="685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Bajo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73952" y="4709160"/>
            <a:ext cx="4572000" cy="1463040"/>
          </a:xfrm>
          <a:prstGeom prst="rect">
            <a:avLst/>
          </a:prstGeom>
          <a:solidFill>
            <a:srgbClr val="0F24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11112" y="4828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71"/>
                </a:solidFill>
                <a:latin typeface="Calibri"/>
              </a:rPr>
              <a:t>¿Qué archivos modifica?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11112" y="516636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5C1E9"/>
                </a:solidFill>
                <a:latin typeface="Calibri"/>
              </a:rPr>
              <a:t>Lee/escribe:  fifo_config.json (configuración)</a:t>
            </a:r>
          </a:p>
          <a:p>
            <a:pPr algn="l"/>
            <a:r>
              <a:rPr sz="1000" b="0">
                <a:solidFill>
                  <a:srgbClr val="85C1E9"/>
                </a:solidFill>
                <a:latin typeface="Calibri"/>
              </a:rPr>
              <a:t>Agrega:  bitacora/*.csv (auditoría)</a:t>
            </a:r>
          </a:p>
          <a:p>
            <a:pPr algn="l"/>
            <a:r>
              <a:rPr sz="1000" b="0">
                <a:solidFill>
                  <a:srgbClr val="85C1E9"/>
                </a:solidFill>
                <a:latin typeface="Calibri"/>
              </a:rPr>
              <a:t>Elimina:  Solo carpetas YYYY/MM/DD dentro de Asset/Variable/{E,F}/</a:t>
            </a:r>
          </a:p>
        </p:txBody>
      </p:sp>
      <p:pic>
        <p:nvPicPr>
          <p:cNvPr id="42" name="Picture 41" descr="idc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733" dur="indefinite" restart="whenNotActive" nodeType="tmRoot">
          <p:childTnLst>
            <p:par>
              <p:cTn id="734" fill="hold">
                <p:stCondLst>
                  <p:cond delay="0"/>
                </p:stCondLst>
                <p:childTnLst>
                  <p:par>
                    <p:cTn id="735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736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737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738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739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740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741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742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743" presetID="10" presetClass="entr" presetSubtype="0" fill="hold" grpId="4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744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745" presetID="10" presetClass="entr" presetSubtype="0" fill="hold" grpId="5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746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747" presetID="10" presetClass="entr" presetSubtype="0" fill="hold" grpId="6" nodeType="withEffect">
                      <p:stCondLst>
                        <p:cond delay="430"/>
                      </p:stCondLst>
                      <p:childTnLst>
                        <p:animEffect transition="in" filter="fade">
                          <p:cBhvr>
                            <p:cTn id="748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749" presetID="10" presetClass="entr" presetSubtype="0" fill="hold" grpId="7" nodeType="withEffect">
                      <p:stCondLst>
                        <p:cond delay="430"/>
                      </p:stCondLst>
                      <p:childTnLst>
                        <p:animEffect transition="in" filter="fade">
                          <p:cBhvr>
                            <p:cTn id="750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751" presetID="10" presetClass="entr" presetSubtype="0" fill="hold" grpId="8" nodeType="withEffect">
                      <p:stCondLst>
                        <p:cond delay="510"/>
                      </p:stCondLst>
                      <p:childTnLst>
                        <p:animEffect transition="in" filter="fade">
                          <p:cBhvr>
                            <p:cTn id="752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753" presetID="10" presetClass="entr" presetSubtype="0" fill="hold" grpId="9" nodeType="withEffect">
                      <p:stCondLst>
                        <p:cond delay="510"/>
                      </p:stCondLst>
                      <p:childTnLst>
                        <p:animEffect transition="in" filter="fade">
                          <p:cBhvr>
                            <p:cTn id="754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755" presetID="10" presetClass="entr" presetSubtype="0" fill="hold" grpId="10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756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757" presetID="10" presetClass="entr" presetSubtype="0" fill="hold" grpId="11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758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759" presetID="10" presetClass="entr" presetSubtype="0" fill="hold" grpId="12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760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761" presetID="10" presetClass="entr" presetSubtype="0" fill="hold" grpId="13" nodeType="withEffect">
                      <p:stCondLst>
                        <p:cond delay="670"/>
                      </p:stCondLst>
                      <p:childTnLst>
                        <p:animEffect transition="in" filter="fade">
                          <p:cBhvr>
                            <p:cTn id="762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763" presetID="10" presetClass="entr" presetSubtype="0" fill="hold" grpId="14" nodeType="withEffect">
                      <p:stCondLst>
                        <p:cond delay="750"/>
                      </p:stCondLst>
                      <p:childTnLst>
                        <p:animEffect transition="in" filter="fade">
                          <p:cBhvr>
                            <p:cTn id="764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765" presetID="10" presetClass="entr" presetSubtype="0" fill="hold" grpId="15" nodeType="withEffect">
                      <p:stCondLst>
                        <p:cond delay="750"/>
                      </p:stCondLst>
                      <p:childTnLst>
                        <p:animEffect transition="in" filter="fade">
                          <p:cBhvr>
                            <p:cTn id="766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767" presetID="10" presetClass="entr" presetSubtype="0" fill="hold" grpId="1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768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769" presetID="10" presetClass="entr" presetSubtype="0" fill="hold" grpId="17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770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771" presetID="10" presetClass="entr" presetSubtype="0" fill="hold" grpId="18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772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773" presetID="10" presetClass="entr" presetSubtype="0" fill="hold" grpId="19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774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775" presetID="10" presetClass="entr" presetSubtype="0" fill="hold" grpId="20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776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777" presetID="10" presetClass="entr" presetSubtype="0" fill="hold" grpId="21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778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779" presetID="10" presetClass="entr" presetSubtype="0" fill="hold" grpId="22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780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781" presetID="10" presetClass="entr" presetSubtype="0" fill="hold" grpId="23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782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783" presetID="10" presetClass="entr" presetSubtype="0" fill="hold" grpId="24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784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785" presetID="10" presetClass="entr" presetSubtype="0" fill="hold" grpId="25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786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787" presetID="10" presetClass="entr" presetSubtype="0" fill="hold" grpId="26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788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789" presetID="10" presetClass="entr" presetSubtype="0" fill="hold" grpId="27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790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791" presetID="10" presetClass="entr" presetSubtype="0" fill="hold" grpId="28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792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793" presetID="10" presetClass="entr" presetSubtype="0" fill="hold" grpId="29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794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795" presetID="10" presetClass="entr" presetSubtype="0" fill="hold" grpId="30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796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797" presetID="10" presetClass="entr" presetSubtype="0" fill="hold" grpId="31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798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799" presetID="10" presetClass="entr" presetSubtype="0" fill="hold" grpId="32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800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801" presetID="10" presetClass="entr" presetSubtype="0" fill="hold" grpId="33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802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803" presetID="10" presetClass="entr" presetSubtype="0" fill="hold" grpId="34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804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805" presetID="10" presetClass="entr" presetSubtype="0" fill="hold" grpId="35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806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807" presetID="10" presetClass="entr" presetSubtype="0" fill="hold" grpId="36" nodeType="withEffect">
                      <p:stCondLst>
                        <p:cond delay="640"/>
                      </p:stCondLst>
                      <p:childTnLst>
                        <p:animEffect transition="in" filter="fade">
                          <p:cBhvr>
                            <p:cTn id="808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809" presetID="10" presetClass="entr" presetSubtype="0" fill="hold" grpId="37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810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811" presetID="10" presetClass="entr" presetSubtype="0" fill="hold" grpId="38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812" dur="6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813" presetID="10" presetClass="entr" presetSubtype="0" fill="hold" grpId="39" nodeType="withEffect">
                      <p:stCondLst>
                        <p:cond delay="520"/>
                      </p:stCondLst>
                      <p:childTnLst>
                        <p:animEffect transition="in" filter="fade">
                          <p:cBhvr>
                            <p:cTn id="814" dur="6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4A5A"/>
                </a:solidFill>
                <a:latin typeface="Calibri Light"/>
              </a:rPr>
              <a:t>89 tests ejecutados — 100% de aprobación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8308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27AE60"/>
                </a:solidFill>
                <a:latin typeface="Calibri"/>
              </a:rPr>
              <a:t>82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4A5A"/>
                </a:solidFill>
                <a:latin typeface="Calibri"/>
              </a:rPr>
              <a:t>de 82 ejecutables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840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E8E9E"/>
                </a:solidFill>
                <a:latin typeface="Calibri"/>
              </a:rPr>
              <a:t>0 fallidos  ·  7 N/A (v2.0)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4251960"/>
            <a:ext cx="1737360" cy="182880"/>
          </a:xfrm>
          <a:prstGeom prst="rect">
            <a:avLst/>
          </a:prstGeom>
          <a:solidFill>
            <a:srgbClr val="E8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4251960"/>
            <a:ext cx="1737360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9000" y="1783080"/>
            <a:ext cx="7845552" cy="365760"/>
          </a:xfrm>
          <a:prstGeom prst="rect">
            <a:avLst/>
          </a:prstGeom>
          <a:solidFill>
            <a:srgbClr val="0F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18562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856232"/>
            <a:ext cx="4937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Descripción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64040" y="18562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185623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167128"/>
            <a:ext cx="7845552" cy="457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276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71A3"/>
                </a:solidFill>
                <a:latin typeface="Calibri"/>
              </a:rPr>
              <a:t>RF-01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2768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Inventario de almacenamiento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276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22768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642616"/>
            <a:ext cx="7845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27523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71A3"/>
                </a:solidFill>
                <a:latin typeface="Calibri"/>
              </a:rPr>
              <a:t>RF-02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752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Configuración de políticas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7523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78440" y="275234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3118104"/>
            <a:ext cx="7845552" cy="457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32278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71A3"/>
                </a:solidFill>
                <a:latin typeface="Calibri"/>
              </a:rPr>
              <a:t>RF-03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2278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Simulación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32278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322783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29000" y="3593592"/>
            <a:ext cx="7845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71A3"/>
                </a:solidFill>
                <a:latin typeface="Calibri"/>
              </a:rPr>
              <a:t>RF-04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7033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Limpieza FIFO producción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14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78440" y="37033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4069080"/>
            <a:ext cx="7845552" cy="457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4178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71A3"/>
                </a:solidFill>
                <a:latin typeface="Calibri"/>
              </a:rPr>
              <a:t>RF-05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1788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Bitácora y auditoría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4178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417880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29000" y="4544568"/>
            <a:ext cx="7845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20440" y="46542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71A3"/>
                </a:solidFill>
                <a:latin typeface="Calibri"/>
              </a:rPr>
              <a:t>RF-07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46542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Limpieza programada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46542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78440" y="465429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29000" y="5020056"/>
            <a:ext cx="7845552" cy="457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20440" y="51297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471A3"/>
                </a:solidFill>
                <a:latin typeface="Calibri"/>
              </a:rPr>
              <a:t>RF-08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34840" y="512978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Monitoreo preventivo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51297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512978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29000" y="5495544"/>
            <a:ext cx="7845552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20440" y="5605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8E9E"/>
                </a:solidFill>
                <a:latin typeface="Calibri"/>
              </a:rPr>
              <a:t>Edge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4840" y="56052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Errores, permisos, concurrencia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64040" y="5605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5605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OK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29000" y="5971032"/>
            <a:ext cx="7845552" cy="45720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520440" y="6080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8E9E"/>
                </a:solidFill>
                <a:latin typeface="Calibri"/>
              </a:rPr>
              <a:t>v2.0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34840" y="608076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RF-06 alarmas, RF-09 RBAC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464040" y="6080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78440" y="608076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A4A5A"/>
                </a:solidFill>
                <a:latin typeface="Calibri"/>
              </a:rPr>
              <a:t>N/A</a:t>
            </a:r>
          </a:p>
        </p:txBody>
      </p:sp>
      <p:pic>
        <p:nvPicPr>
          <p:cNvPr id="59" name="Picture 58" descr="idc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815" dur="indefinite" restart="whenNotActive" nodeType="tmRoot">
          <p:childTnLst>
            <p:par>
              <p:cTn id="816" fill="hold">
                <p:stCondLst>
                  <p:cond delay="0"/>
                </p:stCondLst>
                <p:childTnLst>
                  <p:par>
                    <p:cTn id="817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818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819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820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821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822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823" presetID="10" presetClass="entr" presetSubtype="0" fill="hold" grpId="3" nodeType="withEffect">
                      <p:stCondLst>
                        <p:cond delay="250"/>
                      </p:stCondLst>
                      <p:childTnLst>
                        <p:animEffect transition="in" filter="fade">
                          <p:cBhvr>
                            <p:cTn id="824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825" presetID="10" presetClass="entr" presetSubtype="0" fill="hold" grpId="4" nodeType="withEffect">
                      <p:stCondLst>
                        <p:cond delay="280"/>
                      </p:stCondLst>
                      <p:childTnLst>
                        <p:animEffect transition="in" filter="fade">
                          <p:cBhvr>
                            <p:cTn id="826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827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828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829" presetID="10" presetClass="entr" presetSubtype="0" fill="hold" grpId="6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830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831" presetID="10" presetClass="entr" presetSubtype="0" fill="hold" grpId="7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832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833" presetID="10" presetClass="entr" presetSubtype="0" fill="hold" grpId="8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834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835" presetID="10" presetClass="entr" presetSubtype="0" fill="hold" grpId="9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836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837" presetID="10" presetClass="entr" presetSubtype="0" fill="hold" grpId="10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838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839" presetID="10" presetClass="entr" presetSubtype="0" fill="hold" grpId="11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840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841" presetID="10" presetClass="entr" presetSubtype="0" fill="hold" grpId="12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842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843" presetID="10" presetClass="entr" presetSubtype="0" fill="hold" grpId="13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844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845" presetID="10" presetClass="entr" presetSubtype="0" fill="hold" grpId="14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846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847" presetID="10" presetClass="entr" presetSubtype="0" fill="hold" grpId="15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848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849" presetID="10" presetClass="entr" presetSubtype="0" fill="hold" grpId="16" nodeType="withEffect">
                      <p:stCondLst>
                        <p:cond delay="350"/>
                      </p:stCondLst>
                      <p:childTnLst>
                        <p:animEffect transition="in" filter="fade">
                          <p:cBhvr>
                            <p:cTn id="850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851" presetID="10" presetClass="entr" presetSubtype="0" fill="hold" grpId="17" nodeType="withEffect">
                      <p:stCondLst>
                        <p:cond delay="410"/>
                      </p:stCondLst>
                      <p:childTnLst>
                        <p:animEffect transition="in" filter="fade">
                          <p:cBhvr>
                            <p:cTn id="852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853" presetID="10" presetClass="entr" presetSubtype="0" fill="hold" grpId="18" nodeType="withEffect">
                      <p:stCondLst>
                        <p:cond delay="410"/>
                      </p:stCondLst>
                      <p:childTnLst>
                        <p:animEffect transition="in" filter="fade">
                          <p:cBhvr>
                            <p:cTn id="854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855" presetID="10" presetClass="entr" presetSubtype="0" fill="hold" grpId="19" nodeType="withEffect">
                      <p:stCondLst>
                        <p:cond delay="410"/>
                      </p:stCondLst>
                      <p:childTnLst>
                        <p:animEffect transition="in" filter="fade">
                          <p:cBhvr>
                            <p:cTn id="856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857" presetID="10" presetClass="entr" presetSubtype="0" fill="hold" grpId="20" nodeType="withEffect">
                      <p:stCondLst>
                        <p:cond delay="410"/>
                      </p:stCondLst>
                      <p:childTnLst>
                        <p:animEffect transition="in" filter="fade">
                          <p:cBhvr>
                            <p:cTn id="858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859" presetID="10" presetClass="entr" presetSubtype="0" fill="hold" grpId="21" nodeType="withEffect">
                      <p:stCondLst>
                        <p:cond delay="410"/>
                      </p:stCondLst>
                      <p:childTnLst>
                        <p:animEffect transition="in" filter="fade">
                          <p:cBhvr>
                            <p:cTn id="860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861" presetID="10" presetClass="entr" presetSubtype="0" fill="hold" grpId="22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862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863" presetID="10" presetClass="entr" presetSubtype="0" fill="hold" grpId="23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864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865" presetID="10" presetClass="entr" presetSubtype="0" fill="hold" grpId="24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866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867" presetID="10" presetClass="entr" presetSubtype="0" fill="hold" grpId="25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868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869" presetID="10" presetClass="entr" presetSubtype="0" fill="hold" grpId="26" nodeType="withEffect">
                      <p:stCondLst>
                        <p:cond delay="470"/>
                      </p:stCondLst>
                      <p:childTnLst>
                        <p:animEffect transition="in" filter="fade">
                          <p:cBhvr>
                            <p:cTn id="870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871" presetID="10" presetClass="entr" presetSubtype="0" fill="hold" grpId="27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872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873" presetID="10" presetClass="entr" presetSubtype="0" fill="hold" grpId="28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874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875" presetID="10" presetClass="entr" presetSubtype="0" fill="hold" grpId="29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876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877" presetID="10" presetClass="entr" presetSubtype="0" fill="hold" grpId="30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878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879" presetID="10" presetClass="entr" presetSubtype="0" fill="hold" grpId="31" nodeType="withEffect">
                      <p:stCondLst>
                        <p:cond delay="530"/>
                      </p:stCondLst>
                      <p:childTnLst>
                        <p:animEffect transition="in" filter="fade">
                          <p:cBhvr>
                            <p:cTn id="880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881" presetID="10" presetClass="entr" presetSubtype="0" fill="hold" grpId="32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882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883" presetID="10" presetClass="entr" presetSubtype="0" fill="hold" grpId="33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884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885" presetID="10" presetClass="entr" presetSubtype="0" fill="hold" grpId="34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886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887" presetID="10" presetClass="entr" presetSubtype="0" fill="hold" grpId="35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888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889" presetID="10" presetClass="entr" presetSubtype="0" fill="hold" grpId="36" nodeType="withEffect">
                      <p:stCondLst>
                        <p:cond delay="590"/>
                      </p:stCondLst>
                      <p:childTnLst>
                        <p:animEffect transition="in" filter="fade">
                          <p:cBhvr>
                            <p:cTn id="890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891" presetID="10" presetClass="entr" presetSubtype="0" fill="hold" grpId="37" nodeType="withEffect">
                      <p:stCondLst>
                        <p:cond delay="650"/>
                      </p:stCondLst>
                      <p:childTnLst>
                        <p:animEffect transition="in" filter="fade">
                          <p:cBhvr>
                            <p:cTn id="892" dur="6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893" presetID="10" presetClass="entr" presetSubtype="0" fill="hold" grpId="38" nodeType="withEffect">
                      <p:stCondLst>
                        <p:cond delay="650"/>
                      </p:stCondLst>
                      <p:childTnLst>
                        <p:animEffect transition="in" filter="fade">
                          <p:cBhvr>
                            <p:cTn id="894" dur="6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895" presetID="10" presetClass="entr" presetSubtype="0" fill="hold" grpId="39" nodeType="withEffect">
                      <p:stCondLst>
                        <p:cond delay="650"/>
                      </p:stCondLst>
                      <p:childTnLst>
                        <p:animEffect transition="in" filter="fade">
                          <p:cBhvr>
                            <p:cTn id="896" dur="6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897" presetID="10" presetClass="entr" presetSubtype="0" fill="hold" grpId="40" nodeType="withEffect">
                      <p:stCondLst>
                        <p:cond delay="650"/>
                      </p:stCondLst>
                      <p:childTnLst>
                        <p:animEffect transition="in" filter="fade">
                          <p:cBhvr>
                            <p:cTn id="898" dur="6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899" presetID="10" presetClass="entr" presetSubtype="0" fill="hold" grpId="41" nodeType="withEffect">
                      <p:stCondLst>
                        <p:cond delay="650"/>
                      </p:stCondLst>
                      <p:childTnLst>
                        <p:animEffect transition="in" filter="fade">
                          <p:cBhvr>
                            <p:cTn id="900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901" presetID="10" presetClass="entr" presetSubtype="0" fill="hold" grpId="42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902" dur="6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903" presetID="10" presetClass="entr" presetSubtype="0" fill="hold" grpId="43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904" dur="6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905" presetID="10" presetClass="entr" presetSubtype="0" fill="hold" grpId="44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906" dur="6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907" presetID="10" presetClass="entr" presetSubtype="0" fill="hold" grpId="45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908" dur="6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  <p:par>
                    <p:cTn id="909" presetID="10" presetClass="entr" presetSubtype="0" fill="hold" grpId="46" nodeType="withEffect">
                      <p:stCondLst>
                        <p:cond delay="710"/>
                      </p:stCondLst>
                      <p:childTnLst>
                        <p:animEffect transition="in" filter="fade">
                          <p:cBhvr>
                            <p:cTn id="910" dur="6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911" presetID="10" presetClass="entr" presetSubtype="0" fill="hold" grpId="47" nodeType="withEffect">
                      <p:stCondLst>
                        <p:cond delay="770"/>
                      </p:stCondLst>
                      <p:childTnLst>
                        <p:animEffect transition="in" filter="fade">
                          <p:cBhvr>
                            <p:cTn id="912" dur="6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  <p:par>
                    <p:cTn id="913" presetID="10" presetClass="entr" presetSubtype="0" fill="hold" grpId="48" nodeType="withEffect">
                      <p:stCondLst>
                        <p:cond delay="770"/>
                      </p:stCondLst>
                      <p:childTnLst>
                        <p:animEffect transition="in" filter="fade">
                          <p:cBhvr>
                            <p:cTn id="914" dur="6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  <p:par>
                    <p:cTn id="915" presetID="10" presetClass="entr" presetSubtype="0" fill="hold" grpId="49" nodeType="withEffect">
                      <p:stCondLst>
                        <p:cond delay="770"/>
                      </p:stCondLst>
                      <p:childTnLst>
                        <p:animEffect transition="in" filter="fade">
                          <p:cBhvr>
                            <p:cTn id="916" dur="6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  <p:par>
                    <p:cTn id="917" presetID="10" presetClass="entr" presetSubtype="0" fill="hold" grpId="50" nodeType="withEffect">
                      <p:stCondLst>
                        <p:cond delay="770"/>
                      </p:stCondLst>
                      <p:childTnLst>
                        <p:animEffect transition="in" filter="fade">
                          <p:cBhvr>
                            <p:cTn id="918" dur="6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  <p:par>
                    <p:cTn id="919" presetID="10" presetClass="entr" presetSubtype="0" fill="hold" grpId="51" nodeType="withEffect">
                      <p:stCondLst>
                        <p:cond delay="770"/>
                      </p:stCondLst>
                      <p:childTnLst>
                        <p:animEffect transition="in" filter="fade">
                          <p:cBhvr>
                            <p:cTn id="920" dur="6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  <p:par>
                    <p:cTn id="921" presetID="10" presetClass="entr" presetSubtype="0" fill="hold" grpId="52" nodeType="withEffect">
                      <p:stCondLst>
                        <p:cond delay="830"/>
                      </p:stCondLst>
                      <p:childTnLst>
                        <p:animEffect transition="in" filter="fade">
                          <p:cBhvr>
                            <p:cTn id="922" dur="6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  <p:par>
                    <p:cTn id="923" presetID="10" presetClass="entr" presetSubtype="0" fill="hold" grpId="53" nodeType="withEffect">
                      <p:stCondLst>
                        <p:cond delay="830"/>
                      </p:stCondLst>
                      <p:childTnLst>
                        <p:animEffect transition="in" filter="fade">
                          <p:cBhvr>
                            <p:cTn id="924" dur="6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  <p:par>
                    <p:cTn id="925" presetID="10" presetClass="entr" presetSubtype="0" fill="hold" grpId="54" nodeType="withEffect">
                      <p:stCondLst>
                        <p:cond delay="830"/>
                      </p:stCondLst>
                      <p:childTnLst>
                        <p:animEffect transition="in" filter="fade">
                          <p:cBhvr>
                            <p:cTn id="926" dur="6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  <p:par>
                    <p:cTn id="927" presetID="10" presetClass="entr" presetSubtype="0" fill="hold" grpId="55" nodeType="withEffect">
                      <p:stCondLst>
                        <p:cond delay="830"/>
                      </p:stCondLst>
                      <p:childTnLst>
                        <p:animEffect transition="in" filter="fade">
                          <p:cBhvr>
                            <p:cTn id="928" dur="6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  <p:par>
                    <p:cTn id="929" presetID="10" presetClass="entr" presetSubtype="0" fill="hold" grpId="56" nodeType="withEffect">
                      <p:stCondLst>
                        <p:cond delay="830"/>
                      </p:stCondLst>
                      <p:childTnLst>
                        <p:animEffect transition="in" filter="fade">
                          <p:cBhvr>
                            <p:cTn id="930" dur="6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IMPLEMENTACIÓN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4A4A5A"/>
                </a:solidFill>
                <a:latin typeface="Calibri Light"/>
              </a:rPr>
              <a:t>Plan de instalación: 25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C80"/>
                </a:solidFill>
                <a:latin typeface="Calibri"/>
              </a:rPr>
              <a:t>Sin reinicio del servidor. Sin modificaciones al sistema operativo.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03120"/>
            <a:ext cx="6858000" cy="59436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2194560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21284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15798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Instalar .NET 8.0 Desktop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32304"/>
            <a:ext cx="5394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Descarga de Microsoft (~55 MB). Responsable: TI ODL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6771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1A3"/>
                </a:solidFill>
                <a:latin typeface="Calibri"/>
              </a:rPr>
              <a:t>5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761488"/>
            <a:ext cx="6858000" cy="59436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852928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87121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1635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Crear carpeta C:\FifoCleanup\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090672"/>
            <a:ext cx="5394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Responsable: TI ODL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9260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1A3"/>
                </a:solidFill>
                <a:latin typeface="Calibri"/>
              </a:rPr>
              <a:t>1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419856"/>
            <a:ext cx="6858000" cy="59436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511296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3529584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4747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Copiar archivos publicados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749040"/>
            <a:ext cx="5394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~50 MB. Responsable: IDC + TI ODL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5844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1A3"/>
                </a:solidFill>
                <a:latin typeface="Calibri"/>
              </a:rPr>
              <a:t>2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078224"/>
            <a:ext cx="6858000" cy="59436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169664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187952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133088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Verificar permisos en carpeta de datos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407408"/>
            <a:ext cx="5394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Lectura/escritura/eliminación. Responsable: TI ODL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424281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1A3"/>
                </a:solidFill>
                <a:latin typeface="Calibri"/>
              </a:rPr>
              <a:t>2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4736592"/>
            <a:ext cx="6858000" cy="59436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" y="4828032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" y="4846320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791456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Ejecutar FifoCleanup + configurar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065776"/>
            <a:ext cx="5394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Establecer ruta de datos, umbral, cap. Responsable: IDC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9011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1A3"/>
                </a:solidFill>
                <a:latin typeface="Calibri"/>
              </a:rPr>
              <a:t>5 min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5394960"/>
            <a:ext cx="6858000" cy="59436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486400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8" y="5504688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80160" y="5449824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Verificar inventario + simulación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5724144"/>
            <a:ext cx="5394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Validar que detecta Assets correctamente. Responsable: IDC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37960" y="555955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1A3"/>
                </a:solidFill>
                <a:latin typeface="Calibri"/>
              </a:rPr>
              <a:t>7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5800" y="6053328"/>
            <a:ext cx="6858000" cy="594360"/>
          </a:xfrm>
          <a:prstGeom prst="rect">
            <a:avLst/>
          </a:prstGeom>
          <a:solidFill>
            <a:srgbClr val="F4F4F6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6144768"/>
            <a:ext cx="384048" cy="384048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528" y="6163056"/>
            <a:ext cx="3474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80160" y="6108192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Activar RF-07 y RF-08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6382512"/>
            <a:ext cx="53949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Habilitar limpieza automática. Responsable: IDC + operador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37960" y="62179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471A3"/>
                </a:solidFill>
                <a:latin typeface="Calibri"/>
              </a:rPr>
              <a:t>1 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45552" y="2103120"/>
            <a:ext cx="3429000" cy="2560320"/>
          </a:xfrm>
          <a:prstGeom prst="rect">
            <a:avLst/>
          </a:prstGeom>
          <a:solidFill>
            <a:srgbClr val="F4F4F6"/>
          </a:solidFill>
          <a:ln w="12700">
            <a:solidFill>
              <a:srgbClr val="D0D0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82712" y="219456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C80"/>
                </a:solidFill>
                <a:latin typeface="Calibri"/>
              </a:rPr>
              <a:t>Lo que se instala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82712" y="2514600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4A5A"/>
                </a:solidFill>
                <a:latin typeface="Consolas"/>
              </a:rPr>
              <a:t>C:\FifoCleanup\</a:t>
            </a:r>
          </a:p>
          <a:p>
            <a:pPr algn="l"/>
            <a:r>
              <a:rPr sz="1000" b="0">
                <a:solidFill>
                  <a:srgbClr val="4A4A5A"/>
                </a:solidFill>
                <a:latin typeface="Consolas"/>
              </a:rPr>
              <a:t>  ├── FifoCleanup.exe</a:t>
            </a:r>
          </a:p>
          <a:p>
            <a:pPr algn="l"/>
            <a:r>
              <a:rPr sz="1000" b="0">
                <a:solidFill>
                  <a:srgbClr val="4A4A5A"/>
                </a:solidFill>
                <a:latin typeface="Consolas"/>
              </a:rPr>
              <a:t>  ├── *.dll (Engine, MVVM, Charts)</a:t>
            </a:r>
          </a:p>
          <a:p>
            <a:pPr algn="l"/>
            <a:r>
              <a:rPr sz="1000" b="0">
                <a:solidFill>
                  <a:srgbClr val="4A4A5A"/>
                </a:solidFill>
                <a:latin typeface="Consolas"/>
              </a:rPr>
              <a:t>  ├── *.runtimeconfig.json</a:t>
            </a:r>
          </a:p>
          <a:p>
            <a:pPr algn="l"/>
            <a:r>
              <a:rPr sz="1000" b="0">
                <a:solidFill>
                  <a:srgbClr val="4A4A5A"/>
                </a:solidFill>
                <a:latin typeface="Consolas"/>
              </a:rPr>
              <a:t>  └── fifo_config.json</a:t>
            </a:r>
          </a:p>
          <a:p>
            <a:pPr algn="l"/>
            <a:r>
              <a:rPr sz="1000" b="0">
                <a:solidFill>
                  <a:srgbClr val="4A4A5A"/>
                </a:solidFill>
                <a:latin typeface="Consolas"/>
              </a:rPr>
              <a:t/>
            </a:r>
          </a:p>
          <a:p>
            <a:pPr algn="l"/>
            <a:r>
              <a:rPr sz="1000" b="0">
                <a:solidFill>
                  <a:srgbClr val="4A4A5A"/>
                </a:solidFill>
                <a:latin typeface="Consolas"/>
              </a:rPr>
              <a:t>Total: &lt; 50 MB en disco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45552" y="4800600"/>
            <a:ext cx="3429000" cy="1828800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82712" y="489204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  Lo que NO se modifica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82712" y="523036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--  Registro de Windows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82712" y="550468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--  Servicios del sistema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82712" y="577900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--  Puertos de red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82712" y="6053328"/>
            <a:ext cx="3154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--  Configuraciones del SO</a:t>
            </a:r>
          </a:p>
        </p:txBody>
      </p:sp>
      <p:pic>
        <p:nvPicPr>
          <p:cNvPr id="56" name="Picture 55" descr="idc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931" dur="indefinite" restart="whenNotActive" nodeType="tmRoot">
          <p:childTnLst>
            <p:par>
              <p:cTn id="932" fill="hold">
                <p:stCondLst>
                  <p:cond delay="0"/>
                </p:stCondLst>
                <p:childTnLst>
                  <p:par>
                    <p:cTn id="93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934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935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936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937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938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939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940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941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942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943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944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945" presetID="10" presetClass="entr" presetSubtype="0" fill="hold" grpId="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946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947" presetID="10" presetClass="entr" presetSubtype="0" fill="hold" grpId="7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948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949" presetID="10" presetClass="entr" presetSubtype="0" fill="hold" grpId="8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950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951" presetID="10" presetClass="entr" presetSubtype="0" fill="hold" grpId="9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952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953" presetID="10" presetClass="entr" presetSubtype="0" fill="hold" grpId="10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954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955" presetID="10" presetClass="entr" presetSubtype="0" fill="hold" grpId="11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956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957" presetID="10" presetClass="entr" presetSubtype="0" fill="hold" grpId="12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958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959" presetID="10" presetClass="entr" presetSubtype="0" fill="hold" grpId="13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960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961" presetID="10" presetClass="entr" presetSubtype="0" fill="hold" grpId="14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962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963" presetID="10" presetClass="entr" presetSubtype="0" fill="hold" grpId="15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964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965" presetID="10" presetClass="entr" presetSubtype="0" fill="hold" grpId="16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966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967" presetID="10" presetClass="entr" presetSubtype="0" fill="hold" grpId="17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968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969" presetID="10" presetClass="entr" presetSubtype="0" fill="hold" grpId="18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970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971" presetID="10" presetClass="entr" presetSubtype="0" fill="hold" grpId="19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972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973" presetID="10" presetClass="entr" presetSubtype="0" fill="hold" grpId="20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974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975" presetID="10" presetClass="entr" presetSubtype="0" fill="hold" grpId="21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976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977" presetID="10" presetClass="entr" presetSubtype="0" fill="hold" grpId="22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978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979" presetID="10" presetClass="entr" presetSubtype="0" fill="hold" grpId="23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980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981" presetID="10" presetClass="entr" presetSubtype="0" fill="hold" grpId="24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982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983" presetID="10" presetClass="entr" presetSubtype="0" fill="hold" grpId="25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984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985" presetID="10" presetClass="entr" presetSubtype="0" fill="hold" grpId="26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986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987" presetID="10" presetClass="entr" presetSubtype="0" fill="hold" grpId="27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988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989" presetID="10" presetClass="entr" presetSubtype="0" fill="hold" grpId="28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990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991" presetID="10" presetClass="entr" presetSubtype="0" fill="hold" grpId="29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992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993" presetID="10" presetClass="entr" presetSubtype="0" fill="hold" grpId="30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994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995" presetID="10" presetClass="entr" presetSubtype="0" fill="hold" grpId="31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996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997" presetID="10" presetClass="entr" presetSubtype="0" fill="hold" grpId="32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998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999" presetID="10" presetClass="entr" presetSubtype="0" fill="hold" grpId="33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00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1001" presetID="10" presetClass="entr" presetSubtype="0" fill="hold" grpId="34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02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003" presetID="10" presetClass="entr" presetSubtype="0" fill="hold" grpId="35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04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1005" presetID="10" presetClass="entr" presetSubtype="0" fill="hold" grpId="36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06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1007" presetID="10" presetClass="entr" presetSubtype="0" fill="hold" grpId="37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08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1009" presetID="10" presetClass="entr" presetSubtype="0" fill="hold" grpId="38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10" dur="6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1011" presetID="10" presetClass="entr" presetSubtype="0" fill="hold" grpId="39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012" dur="6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1013" presetID="10" presetClass="entr" presetSubtype="0" fill="hold" grpId="40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014" dur="6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1015" presetID="10" presetClass="entr" presetSubtype="0" fill="hold" grpId="41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016" dur="6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1017" presetID="10" presetClass="entr" presetSubtype="0" fill="hold" grpId="42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018" dur="6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1019" presetID="10" presetClass="entr" presetSubtype="0" fill="hold" grpId="43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020" dur="6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1021" presetID="10" presetClass="entr" presetSubtype="0" fill="hold" grpId="44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022" dur="6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1023" presetID="10" presetClass="entr" presetSubtype="0" fill="hold" grpId="45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24" dur="6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1025" presetID="10" presetClass="entr" presetSubtype="0" fill="hold" grpId="46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026" dur="6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  <p:par>
                    <p:cTn id="1027" presetID="10" presetClass="entr" presetSubtype="0" fill="hold" grpId="47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028" dur="6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  <p:par>
                    <p:cTn id="1029" presetID="10" presetClass="entr" presetSubtype="0" fill="hold" grpId="48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030" dur="6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  <p:par>
                    <p:cTn id="1031" presetID="10" presetClass="entr" presetSubtype="0" fill="hold" grpId="49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032" dur="6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  <p:par>
                    <p:cTn id="1033" presetID="10" presetClass="entr" presetSubtype="0" fill="hold" grpId="50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034" dur="6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  <p:par>
                    <p:cTn id="1035" presetID="10" presetClass="entr" presetSubtype="0" fill="hold" grpId="51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1036" dur="6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  <p:par>
                    <p:cTn id="1037" presetID="10" presetClass="entr" presetSubtype="0" fill="hold" grpId="52" nodeType="withEffect">
                      <p:stCondLst>
                        <p:cond delay="480"/>
                      </p:stCondLst>
                      <p:childTnLst>
                        <p:animEffect transition="in" filter="fade">
                          <p:cBhvr>
                            <p:cTn id="1038" dur="6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  <p:par>
                    <p:cTn id="1039" presetID="10" presetClass="entr" presetSubtype="0" fill="hold" grpId="53" nodeType="withEffect">
                      <p:stCondLst>
                        <p:cond delay="490"/>
                      </p:stCondLst>
                      <p:childTnLst>
                        <p:animEffect transition="in" filter="fade">
                          <p:cBhvr>
                            <p:cTn id="1040" dur="6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PLAN DE ROLLBACK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Desinstalación en 3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5C1E9"/>
                </a:solidFill>
                <a:latin typeface="Calibri"/>
              </a:rPr>
              <a:t>Si algo sale mal, el servidor vuelve a su estado original sin rastro.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286000"/>
            <a:ext cx="3383280" cy="20116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2487168"/>
            <a:ext cx="548640" cy="548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3154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Paso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E"/>
                </a:solidFill>
                <a:latin typeface="Calibri"/>
              </a:rPr>
              <a:t>Cerrar FifoCleanup.exe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3977640"/>
            <a:ext cx="2103120" cy="256032"/>
          </a:xfrm>
          <a:prstGeom prst="rect">
            <a:avLst/>
          </a:prstGeom>
          <a:solidFill>
            <a:srgbClr val="0F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399592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DADE2"/>
                </a:solidFill>
                <a:latin typeface="Calibri"/>
              </a:rPr>
              <a:t>5 segundos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4" y="2286000"/>
            <a:ext cx="3383280" cy="20116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2487168"/>
            <a:ext cx="548640" cy="5486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215384" y="3154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Paso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2544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E"/>
                </a:solidFill>
                <a:latin typeface="Calibri"/>
              </a:rPr>
              <a:t>Eliminar carpeta C:\FifoCleanup\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5464" y="3977640"/>
            <a:ext cx="2103120" cy="256032"/>
          </a:xfrm>
          <a:prstGeom prst="rect">
            <a:avLst/>
          </a:prstGeom>
          <a:solidFill>
            <a:srgbClr val="0F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55464" y="399592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DADE2"/>
                </a:solidFill>
                <a:latin typeface="Calibri"/>
              </a:rPr>
              <a:t>5 segundos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4968" y="2286000"/>
            <a:ext cx="3383280" cy="20116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288" y="2487168"/>
            <a:ext cx="548640" cy="5486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44968" y="3154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Paso 3
(opcional)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0BE"/>
                </a:solidFill>
                <a:latin typeface="Calibri"/>
              </a:rPr>
              <a:t>Desinstalar .NET 8.0 Runtime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85048" y="3977640"/>
            <a:ext cx="2103120" cy="256032"/>
          </a:xfrm>
          <a:prstGeom prst="rect">
            <a:avLst/>
          </a:prstGeom>
          <a:solidFill>
            <a:srgbClr val="0F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995928"/>
            <a:ext cx="21031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DADE2"/>
                </a:solidFill>
                <a:latin typeface="Calibri"/>
              </a:rPr>
              <a:t>2 minutos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572000"/>
            <a:ext cx="3383280" cy="1097280"/>
          </a:xfrm>
          <a:prstGeom prst="rect">
            <a:avLst/>
          </a:prstGeom>
          <a:solidFill>
            <a:srgbClr val="0F24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  <a:latin typeface="Calibri"/>
              </a:rPr>
              <a:t>CERO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2303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Impacto en monitoreo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15384" y="4572000"/>
            <a:ext cx="3383280" cy="1097280"/>
          </a:xfrm>
          <a:prstGeom prst="rect">
            <a:avLst/>
          </a:prstGeom>
          <a:solidFill>
            <a:srgbClr val="0F24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5384" y="4709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  <a:latin typeface="Calibri"/>
              </a:rPr>
              <a:t>NINGUNO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5384" y="52303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Datos de monitoreo afectados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4968" y="4572000"/>
            <a:ext cx="3383280" cy="1097280"/>
          </a:xfrm>
          <a:prstGeom prst="rect">
            <a:avLst/>
          </a:prstGeom>
          <a:solidFill>
            <a:srgbClr val="0F2440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8" y="470916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  <a:latin typeface="Calibri"/>
              </a:rPr>
              <a:t>NINGUNA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44968" y="52303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Configuración del servidor modificada</a:t>
            </a:r>
          </a:p>
        </p:txBody>
      </p:sp>
      <p:pic>
        <p:nvPicPr>
          <p:cNvPr id="32" name="Picture 31" descr="idc-logo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1041" dur="indefinite" restart="whenNotActive" nodeType="tmRoot">
          <p:childTnLst>
            <p:par>
              <p:cTn id="1042" fill="hold">
                <p:stCondLst>
                  <p:cond delay="0"/>
                </p:stCondLst>
                <p:childTnLst>
                  <p:par>
                    <p:cTn id="1043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044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045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046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047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048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049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50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051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52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053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54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055" presetID="10" presetClass="entr" presetSubtype="0" fill="hold" grpId="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56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057" presetID="10" presetClass="entr" presetSubtype="0" fill="hold" grpId="7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58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059" presetID="10" presetClass="entr" presetSubtype="0" fill="hold" grpId="8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060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061" presetID="10" presetClass="entr" presetSubtype="0" fill="hold" grpId="9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062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063" presetID="10" presetClass="entr" presetSubtype="0" fill="hold" grpId="10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064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065" presetID="10" presetClass="entr" presetSubtype="0" fill="hold" grpId="11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066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067" presetID="10" presetClass="entr" presetSubtype="0" fill="hold" grpId="12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068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069" presetID="10" presetClass="entr" presetSubtype="0" fill="hold" grpId="13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070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071" presetID="10" presetClass="entr" presetSubtype="0" fill="hold" grpId="14" nodeType="withEffect">
                      <p:stCondLst>
                        <p:cond delay="450"/>
                      </p:stCondLst>
                      <p:childTnLst>
                        <p:animEffect transition="in" filter="fade">
                          <p:cBhvr>
                            <p:cTn id="1072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073" presetID="10" presetClass="entr" presetSubtype="0" fill="hold" grpId="15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74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075" presetID="10" presetClass="entr" presetSubtype="0" fill="hold" grpId="16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76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077" presetID="10" presetClass="entr" presetSubtype="0" fill="hold" grpId="17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78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079" presetID="10" presetClass="entr" presetSubtype="0" fill="hold" grpId="18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80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081" presetID="10" presetClass="entr" presetSubtype="0" fill="hold" grpId="19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82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083" presetID="10" presetClass="entr" presetSubtype="0" fill="hold" grpId="20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84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085" presetID="10" presetClass="entr" presetSubtype="0" fill="hold" grpId="21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86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087" presetID="10" presetClass="entr" presetSubtype="0" fill="hold" grpId="22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88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089" presetID="10" presetClass="entr" presetSubtype="0" fill="hold" grpId="23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090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091" presetID="10" presetClass="entr" presetSubtype="0" fill="hold" grpId="24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92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093" presetID="10" presetClass="entr" presetSubtype="0" fill="hold" grpId="25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94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1095" presetID="10" presetClass="entr" presetSubtype="0" fill="hold" grpId="26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096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097" presetID="10" presetClass="entr" presetSubtype="0" fill="hold" grpId="27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098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1099" presetID="10" presetClass="entr" presetSubtype="0" fill="hold" grpId="28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00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101" presetID="10" presetClass="entr" presetSubtype="0" fill="hold" grpId="29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02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ENTREGABLES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4A5A"/>
                </a:solidFill>
                <a:latin typeface="Calibri Light"/>
              </a:rPr>
              <a:t>15+ documentos entregados en español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10512"/>
            <a:ext cx="384048" cy="3840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README.md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Descripción, inicio rápido, estructura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3364992" y="1737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52" y="1810512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02152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Arquitectura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2560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Diagrama de componentes y flujos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44184" y="1737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344" y="1810512"/>
            <a:ext cx="384048" cy="38404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81344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Especificación técnica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2560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17 parámetros, formatos, algoritmos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1737360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0536" y="1810512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860536" y="2240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Manual de operación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0536" y="25603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Operación diaria, interpretar Dashboard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136392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209544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22960" y="3639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Runbook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959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14 procedimientos paso a paso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64992" y="3136392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209544"/>
            <a:ext cx="384048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02152" y="3639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Troubleshooting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02152" y="3959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12 problemas comunes resueltos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44184" y="3136392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1344" y="3209544"/>
            <a:ext cx="384048" cy="38404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81344" y="3639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FAQ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1344" y="3959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30+ preguntas frecuentes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3376" y="3136392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0536" y="3209544"/>
            <a:ext cx="384048" cy="38404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860536" y="36393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Guía de instalación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0536" y="395935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Paso a paso con checklist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" y="4535424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608576"/>
            <a:ext cx="384048" cy="3840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22960" y="5038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Guía de configuración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5358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Detalle de cada parámetro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64992" y="4535424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02152" y="4608576"/>
            <a:ext cx="384048" cy="3840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502152" y="5038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Material de capacitación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02152" y="5358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Agenda 3h + ejercicios + evaluación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44184" y="4535424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4608576"/>
            <a:ext cx="384048" cy="3840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181344" y="5038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Changelog + SLA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81344" y="5358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Versiones, severidades, tiempos de respuesta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723376" y="4535424"/>
            <a:ext cx="256032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36" y="4608576"/>
            <a:ext cx="384048" cy="38404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8860536" y="5038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4A5A"/>
                </a:solidFill>
                <a:latin typeface="Calibri"/>
              </a:rPr>
              <a:t>7 ADRs + Requisitos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0536" y="5358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E8E9E"/>
                </a:solidFill>
                <a:latin typeface="Calibri"/>
              </a:rPr>
              <a:t>Decisiones, CU, RF, RNF, HU, CA</a:t>
            </a:r>
          </a:p>
        </p:txBody>
      </p:sp>
      <p:pic>
        <p:nvPicPr>
          <p:cNvPr id="52" name="Picture 51" descr="idc-logo-dar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1103" dur="indefinite" restart="whenNotActive" nodeType="tmRoot">
          <p:childTnLst>
            <p:par>
              <p:cTn id="1104" fill="hold">
                <p:stCondLst>
                  <p:cond delay="0"/>
                </p:stCondLst>
                <p:childTnLst>
                  <p:par>
                    <p:cTn id="1105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106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107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108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109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110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111" presetID="10" presetClass="entr" presetSubtype="0" fill="hold" grpId="3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112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113" presetID="10" presetClass="entr" presetSubtype="0" fill="hold" grpId="4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114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115" presetID="10" presetClass="entr" presetSubtype="0" fill="hold" grpId="5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116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117" presetID="10" presetClass="entr" presetSubtype="0" fill="hold" grpId="6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118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119" presetID="10" presetClass="entr" presetSubtype="0" fill="hold" grpId="7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120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121" presetID="10" presetClass="entr" presetSubtype="0" fill="hold" grpId="8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122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123" presetID="10" presetClass="entr" presetSubtype="0" fill="hold" grpId="9" nodeType="withEffect">
                      <p:stCondLst>
                        <p:cond delay="260"/>
                      </p:stCondLst>
                      <p:childTnLst>
                        <p:animEffect transition="in" filter="fade">
                          <p:cBhvr>
                            <p:cTn id="1124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125" presetID="10" presetClass="entr" presetSubtype="0" fill="hold" grpId="10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126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127" presetID="10" presetClass="entr" presetSubtype="0" fill="hold" grpId="11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128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129" presetID="10" presetClass="entr" presetSubtype="0" fill="hold" grpId="12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130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131" presetID="10" presetClass="entr" presetSubtype="0" fill="hold" grpId="13" nodeType="withEffect">
                      <p:stCondLst>
                        <p:cond delay="320"/>
                      </p:stCondLst>
                      <p:childTnLst>
                        <p:animEffect transition="in" filter="fade">
                          <p:cBhvr>
                            <p:cTn id="1132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133" presetID="10" presetClass="entr" presetSubtype="0" fill="hold" grpId="14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134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135" presetID="10" presetClass="entr" presetSubtype="0" fill="hold" grpId="15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136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137" presetID="10" presetClass="entr" presetSubtype="0" fill="hold" grpId="16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138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139" presetID="10" presetClass="entr" presetSubtype="0" fill="hold" grpId="17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140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141" presetID="10" presetClass="entr" presetSubtype="0" fill="hold" grpId="18" nodeType="withEffect">
                      <p:stCondLst>
                        <p:cond delay="440"/>
                      </p:stCondLst>
                      <p:childTnLst>
                        <p:animEffect transition="in" filter="fade">
                          <p:cBhvr>
                            <p:cTn id="1142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143" presetID="10" presetClass="entr" presetSubtype="0" fill="hold" grpId="19" nodeType="withEffect">
                      <p:stCondLst>
                        <p:cond delay="440"/>
                      </p:stCondLst>
                      <p:childTnLst>
                        <p:animEffect transition="in" filter="fade">
                          <p:cBhvr>
                            <p:cTn id="1144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145" presetID="10" presetClass="entr" presetSubtype="0" fill="hold" grpId="20" nodeType="withEffect">
                      <p:stCondLst>
                        <p:cond delay="440"/>
                      </p:stCondLst>
                      <p:childTnLst>
                        <p:animEffect transition="in" filter="fade">
                          <p:cBhvr>
                            <p:cTn id="1146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147" presetID="10" presetClass="entr" presetSubtype="0" fill="hold" grpId="21" nodeType="withEffect">
                      <p:stCondLst>
                        <p:cond delay="440"/>
                      </p:stCondLst>
                      <p:childTnLst>
                        <p:animEffect transition="in" filter="fade">
                          <p:cBhvr>
                            <p:cTn id="1148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149" presetID="10" presetClass="entr" presetSubtype="0" fill="hold" grpId="22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50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151" presetID="10" presetClass="entr" presetSubtype="0" fill="hold" grpId="23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52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153" presetID="10" presetClass="entr" presetSubtype="0" fill="hold" grpId="24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54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155" presetID="10" presetClass="entr" presetSubtype="0" fill="hold" grpId="25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156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1157" presetID="10" presetClass="entr" presetSubtype="0" fill="hold" grpId="26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158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159" presetID="10" presetClass="entr" presetSubtype="0" fill="hold" grpId="27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160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1161" presetID="10" presetClass="entr" presetSubtype="0" fill="hold" grpId="28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162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163" presetID="10" presetClass="entr" presetSubtype="0" fill="hold" grpId="29" nodeType="withEffect">
                      <p:stCondLst>
                        <p:cond delay="560"/>
                      </p:stCondLst>
                      <p:childTnLst>
                        <p:animEffect transition="in" filter="fade">
                          <p:cBhvr>
                            <p:cTn id="1164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1165" presetID="10" presetClass="entr" presetSubtype="0" fill="hold" grpId="30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166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1167" presetID="10" presetClass="entr" presetSubtype="0" fill="hold" grpId="31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168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1169" presetID="10" presetClass="entr" presetSubtype="0" fill="hold" grpId="32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170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1171" presetID="10" presetClass="entr" presetSubtype="0" fill="hold" grpId="33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172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1173" presetID="10" presetClass="entr" presetSubtype="0" fill="hold" grpId="34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1174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175" presetID="10" presetClass="entr" presetSubtype="0" fill="hold" grpId="35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1176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1177" presetID="10" presetClass="entr" presetSubtype="0" fill="hold" grpId="36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1178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1179" presetID="10" presetClass="entr" presetSubtype="0" fill="hold" grpId="37" nodeType="withEffect">
                      <p:stCondLst>
                        <p:cond delay="680"/>
                      </p:stCondLst>
                      <p:childTnLst>
                        <p:animEffect transition="in" filter="fade">
                          <p:cBhvr>
                            <p:cTn id="1180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  <p:par>
                    <p:cTn id="1181" presetID="10" presetClass="entr" presetSubtype="0" fill="hold" grpId="38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1182" dur="6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  <p:par>
                    <p:cTn id="1183" presetID="10" presetClass="entr" presetSubtype="0" fill="hold" grpId="39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1184" dur="6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  <p:par>
                    <p:cTn id="1185" presetID="10" presetClass="entr" presetSubtype="0" fill="hold" grpId="40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1186" dur="6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  <p:par>
                    <p:cTn id="1187" presetID="10" presetClass="entr" presetSubtype="0" fill="hold" grpId="41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1188" dur="6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  <p:par>
                    <p:cTn id="1189" presetID="10" presetClass="entr" presetSubtype="0" fill="hold" grpId="42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90" dur="6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  <p:par>
                    <p:cTn id="1191" presetID="10" presetClass="entr" presetSubtype="0" fill="hold" grpId="43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92" dur="6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  <p:par>
                    <p:cTn id="1193" presetID="10" presetClass="entr" presetSubtype="0" fill="hold" grpId="44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94" dur="6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  <p:par>
                    <p:cTn id="1195" presetID="10" presetClass="entr" presetSubtype="0" fill="hold" grpId="45" nodeType="withEffect">
                      <p:stCondLst>
                        <p:cond delay="800"/>
                      </p:stCondLst>
                      <p:childTnLst>
                        <p:animEffect transition="in" filter="fade">
                          <p:cBhvr>
                            <p:cTn id="1196" dur="6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  <p:par>
                    <p:cTn id="1197" presetID="10" presetClass="entr" presetSubtype="0" fill="hold" grpId="46" nodeType="withEffect">
                      <p:stCondLst>
                        <p:cond delay="860"/>
                      </p:stCondLst>
                      <p:childTnLst>
                        <p:animEffect transition="in" filter="fade">
                          <p:cBhvr>
                            <p:cTn id="1198" dur="6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  <p:par>
                    <p:cTn id="1199" presetID="10" presetClass="entr" presetSubtype="0" fill="hold" grpId="47" nodeType="withEffect">
                      <p:stCondLst>
                        <p:cond delay="860"/>
                      </p:stCondLst>
                      <p:childTnLst>
                        <p:animEffect transition="in" filter="fade">
                          <p:cBhvr>
                            <p:cTn id="1200" dur="6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  <p:par>
                    <p:cTn id="1201" presetID="10" presetClass="entr" presetSubtype="0" fill="hold" grpId="48" nodeType="withEffect">
                      <p:stCondLst>
                        <p:cond delay="860"/>
                      </p:stCondLst>
                      <p:childTnLst>
                        <p:animEffect transition="in" filter="fade">
                          <p:cBhvr>
                            <p:cTn id="1202" dur="6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  <p:par>
                    <p:cTn id="1203" presetID="10" presetClass="entr" presetSubtype="0" fill="hold" grpId="49" nodeType="withEffect">
                      <p:stCondLst>
                        <p:cond delay="860"/>
                      </p:stCondLst>
                      <p:childTnLst>
                        <p:animEffect transition="in" filter="fade">
                          <p:cBhvr>
                            <p:cTn id="1204" dur="6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471A3"/>
                </a:solidFill>
                <a:latin typeface="Calibri"/>
              </a:rPr>
              <a:t>SOLICITUD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A4A5A"/>
                </a:solidFill>
                <a:latin typeface="Calibri Light"/>
              </a:rPr>
              <a:t>Lo que necesitamos del equipo de 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5276"/>
                </a:solidFill>
                <a:latin typeface="Calibri"/>
              </a:rPr>
              <a:t>Solicitudes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148840"/>
            <a:ext cx="5120640" cy="111556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411480" cy="41148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0428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402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5A"/>
                </a:solidFill>
                <a:latin typeface="Calibri"/>
              </a:rPr>
              <a:t>Aprobación de instalación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2432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Instalar .NET 8.0 Runtime y FifoCleanup en SRVODLRTDNMICA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3383280"/>
            <a:ext cx="5120640" cy="111556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411480" cy="41148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353872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7472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5A"/>
                </a:solidFill>
                <a:latin typeface="Calibri"/>
              </a:rPr>
              <a:t>Ventana de 30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5876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Para instalación y configuración inicial supervisada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617720"/>
            <a:ext cx="5120640" cy="111556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754880"/>
            <a:ext cx="411480" cy="41148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77316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0916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5A"/>
                </a:solidFill>
                <a:latin typeface="Calibri"/>
              </a:rPr>
              <a:t>Acceso a carpeta de monitoreo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9320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Permisos de lectura, escritura y eliminación en la ruta de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852160"/>
            <a:ext cx="5120640" cy="1115568"/>
          </a:xfrm>
          <a:prstGeom prst="rect">
            <a:avLst/>
          </a:prstGeom>
          <a:solidFill>
            <a:srgbClr val="D6EAF8"/>
          </a:solidFill>
          <a:ln w="12700">
            <a:solidFill>
              <a:srgbClr val="AED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989320"/>
            <a:ext cx="411480" cy="41148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007608"/>
            <a:ext cx="36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94360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4A5A"/>
                </a:solidFill>
                <a:latin typeface="Calibri"/>
              </a:rPr>
              <a:t>Contacto técnico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6327648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C6C80"/>
                </a:solidFill>
                <a:latin typeface="Calibri"/>
              </a:rPr>
              <a:t>Para coordinar la instalación y resolver dudas técnicas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1691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Calibri"/>
              </a:rPr>
              <a:t>Nuestro compromiso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82512" y="2148840"/>
            <a:ext cx="512064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22860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--  Instalación supervisada por ingeniero de IDC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2816352"/>
            <a:ext cx="512064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29535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--  Capacitación 2–3 horas para operadores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82512" y="3483864"/>
            <a:ext cx="512064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62102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--  Soporte técnico post-go-live según SLA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82512" y="4151376"/>
            <a:ext cx="512064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4288536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--  Documentación completa (15+ documentos)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82512" y="4818888"/>
            <a:ext cx="512064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95604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--  Suite de pruebas ejecutada (82/82 pasando)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82512" y="5486400"/>
            <a:ext cx="512064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9672" y="5623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--  Plan de rollback inmediato (&lt; 3 min)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82512" y="6153912"/>
            <a:ext cx="5120640" cy="576072"/>
          </a:xfrm>
          <a:prstGeom prst="rect">
            <a:avLst/>
          </a:prstGeom>
          <a:solidFill>
            <a:srgbClr val="D5F5E3"/>
          </a:solidFill>
          <a:ln w="12700">
            <a:solidFill>
              <a:srgbClr val="82E0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9672" y="62910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4A5A"/>
                </a:solidFill>
                <a:latin typeface="Calibri"/>
              </a:rPr>
              <a:t>--  Roadmap v2.0 basado en feedback real</a:t>
            </a:r>
          </a:p>
        </p:txBody>
      </p:sp>
      <p:pic>
        <p:nvPicPr>
          <p:cNvPr id="40" name="Picture 39" descr="idc-logo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1205" dur="indefinite" restart="whenNotActive" nodeType="tmRoot">
          <p:childTnLst>
            <p:par>
              <p:cTn id="1206" fill="hold">
                <p:stCondLst>
                  <p:cond delay="0"/>
                </p:stCondLst>
                <p:childTnLst>
                  <p:par>
                    <p:cTn id="1207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08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209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210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11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12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213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14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15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16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17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18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219" presetID="10" presetClass="entr" presetSubtype="0" fill="hold" grpId="6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20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221" presetID="10" presetClass="entr" presetSubtype="0" fill="hold" grpId="7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22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223" presetID="10" presetClass="entr" presetSubtype="0" fill="hold" grpId="8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224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225" presetID="10" presetClass="entr" presetSubtype="0" fill="hold" grpId="9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226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227" presetID="10" presetClass="entr" presetSubtype="0" fill="hold" grpId="10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228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229" presetID="10" presetClass="entr" presetSubtype="0" fill="hold" grpId="11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230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231" presetID="10" presetClass="entr" presetSubtype="0" fill="hold" grpId="12" nodeType="withEffect">
                      <p:stCondLst>
                        <p:cond delay="420"/>
                      </p:stCondLst>
                      <p:childTnLst>
                        <p:animEffect transition="in" filter="fade">
                          <p:cBhvr>
                            <p:cTn id="1232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233" presetID="10" presetClass="entr" presetSubtype="0" fill="hold" grpId="13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234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235" presetID="10" presetClass="entr" presetSubtype="0" fill="hold" grpId="14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236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237" presetID="10" presetClass="entr" presetSubtype="0" fill="hold" grpId="15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238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239" presetID="10" presetClass="entr" presetSubtype="0" fill="hold" grpId="16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240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241" presetID="10" presetClass="entr" presetSubtype="0" fill="hold" grpId="17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242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243" presetID="10" presetClass="entr" presetSubtype="0" fill="hold" grpId="18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1244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245" presetID="10" presetClass="entr" presetSubtype="0" fill="hold" grpId="19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1246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247" presetID="10" presetClass="entr" presetSubtype="0" fill="hold" grpId="20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1248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249" presetID="10" presetClass="entr" presetSubtype="0" fill="hold" grpId="21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1250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251" presetID="10" presetClass="entr" presetSubtype="0" fill="hold" grpId="22" nodeType="withEffect">
                      <p:stCondLst>
                        <p:cond delay="660"/>
                      </p:stCondLst>
                      <p:childTnLst>
                        <p:animEffect transition="in" filter="fade">
                          <p:cBhvr>
                            <p:cTn id="1252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253" presetID="10" presetClass="entr" presetSubtype="0" fill="hold" grpId="23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54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255" presetID="10" presetClass="entr" presetSubtype="0" fill="hold" grpId="2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56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  <p:par>
                    <p:cTn id="1257" presetID="10" presetClass="entr" presetSubtype="0" fill="hold" grpId="2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58" dur="6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  <p:par>
                    <p:cTn id="1259" presetID="10" presetClass="entr" presetSubtype="0" fill="hold" grpId="26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260" dur="6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  <p:par>
                    <p:cTn id="1261" presetID="10" presetClass="entr" presetSubtype="0" fill="hold" grpId="27" nodeType="withEffect">
                      <p:stCondLst>
                        <p:cond delay="380"/>
                      </p:stCondLst>
                      <p:childTnLst>
                        <p:animEffect transition="in" filter="fade">
                          <p:cBhvr>
                            <p:cTn id="1262" dur="6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  <p:par>
                    <p:cTn id="1263" presetID="10" presetClass="entr" presetSubtype="0" fill="hold" grpId="28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1264" dur="6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  <p:par>
                    <p:cTn id="1265" presetID="10" presetClass="entr" presetSubtype="0" fill="hold" grpId="29" nodeType="withEffect">
                      <p:stCondLst>
                        <p:cond delay="460"/>
                      </p:stCondLst>
                      <p:childTnLst>
                        <p:animEffect transition="in" filter="fade">
                          <p:cBhvr>
                            <p:cTn id="1266" dur="6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  <p:par>
                    <p:cTn id="1267" presetID="10" presetClass="entr" presetSubtype="0" fill="hold" grpId="30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268" dur="6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  <p:par>
                    <p:cTn id="1269" presetID="10" presetClass="entr" presetSubtype="0" fill="hold" grpId="31" nodeType="withEffect">
                      <p:stCondLst>
                        <p:cond delay="540"/>
                      </p:stCondLst>
                      <p:childTnLst>
                        <p:animEffect transition="in" filter="fade">
                          <p:cBhvr>
                            <p:cTn id="1270" dur="6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  <p:par>
                    <p:cTn id="1271" presetID="10" presetClass="entr" presetSubtype="0" fill="hold" grpId="32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272" dur="6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  <p:par>
                    <p:cTn id="1273" presetID="10" presetClass="entr" presetSubtype="0" fill="hold" grpId="33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274" dur="6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  <p:par>
                    <p:cTn id="1275" presetID="10" presetClass="entr" presetSubtype="0" fill="hold" grpId="34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276" dur="6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  <p:par>
                    <p:cTn id="1277" presetID="10" presetClass="entr" presetSubtype="0" fill="hold" grpId="35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278" dur="6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  <p:par>
                    <p:cTn id="1279" presetID="10" presetClass="entr" presetSubtype="0" fill="hold" grpId="36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280" dur="6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  <p:par>
                    <p:cTn id="1281" presetID="10" presetClass="entr" presetSubtype="0" fill="hold" grpId="37" nodeType="withEffect">
                      <p:stCondLst>
                        <p:cond delay="780"/>
                      </p:stCondLst>
                      <p:childTnLst>
                        <p:animEffect transition="in" filter="fade">
                          <p:cBhvr>
                            <p:cTn id="1282" dur="6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5DADE2"/>
                </a:solidFill>
                <a:latin typeface="Calibri"/>
              </a:rPr>
              <a:t>FIFOCLEANUP V1.0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 Light"/>
              </a:rPr>
              <a:t>Índice de la Presentación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4672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16" y="1993392"/>
            <a:ext cx="411480" cy="4114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9" name="Rectangle 8"/>
          <p:cNvSpPr/>
          <p:nvPr/>
        </p:nvSpPr>
        <p:spPr>
          <a:xfrm>
            <a:off x="2871216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90088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032" y="1993392"/>
            <a:ext cx="411480" cy="4114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962656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La Solución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6632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75504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75504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993392"/>
            <a:ext cx="41148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48072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Antes vs Después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42048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5864" y="1993392"/>
            <a:ext cx="411480" cy="4114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333488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Arquitectura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27464" y="1645920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546336" y="1755648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46336" y="1755648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0" y="1993392"/>
            <a:ext cx="411480" cy="4114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518904" y="2606040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FIFO Dual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5800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4672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9616" y="3611880"/>
            <a:ext cx="411480" cy="4114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77240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71216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90088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90088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3611880"/>
            <a:ext cx="411480" cy="4114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962656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Impacto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56632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75504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75504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611880"/>
            <a:ext cx="411480" cy="411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148072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Seguridad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42048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60920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60920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5864" y="3611880"/>
            <a:ext cx="411480" cy="41148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7333488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Pruebas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427464" y="3264408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546336" y="3374136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46336" y="3374136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41280" y="3611880"/>
            <a:ext cx="411480" cy="4114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9518904" y="4224528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Instalación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796796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915668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915668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10612" y="5230368"/>
            <a:ext cx="411480" cy="41148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888236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82212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01084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01084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96028" y="5230368"/>
            <a:ext cx="411480" cy="41148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073652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Documentación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67628" y="4882896"/>
            <a:ext cx="2039112" cy="1481328"/>
          </a:xfrm>
          <a:prstGeom prst="rect">
            <a:avLst/>
          </a:prstGeom>
          <a:solidFill>
            <a:srgbClr val="0F2440"/>
          </a:solidFill>
          <a:ln w="12700"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86500" y="4992624"/>
            <a:ext cx="347472" cy="228600"/>
          </a:xfrm>
          <a:prstGeom prst="rect">
            <a:avLst/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86500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81444" y="5230368"/>
            <a:ext cx="411480" cy="4114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6259068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Solicitud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53044" y="4882896"/>
            <a:ext cx="2039112" cy="1481328"/>
          </a:xfrm>
          <a:prstGeom prst="rect">
            <a:avLst/>
          </a:prstGeom>
          <a:solidFill>
            <a:srgbClr val="163A5F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8471916" y="4992624"/>
            <a:ext cx="347472" cy="228600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71916" y="4992624"/>
            <a:ext cx="34747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66860" y="5230368"/>
            <a:ext cx="411480" cy="41148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8444484" y="5843016"/>
            <a:ext cx="1856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Resumen</a:t>
            </a:r>
          </a:p>
        </p:txBody>
      </p:sp>
      <p:pic>
        <p:nvPicPr>
          <p:cNvPr id="74" name="Picture 73" descr="idc-logo-whit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out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5C1E9"/>
                </a:solidFill>
                <a:latin typeface="Calibri"/>
              </a:rP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49808"/>
            <a:ext cx="108173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 Light"/>
              </a:rPr>
              <a:t>FifoCleanup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745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ED6F1"/>
                </a:solidFill>
                <a:latin typeface="Calibri"/>
              </a:rPr>
              <a:t>Gestión automática de espacio en disco para que el monitoreo nunca se detenga.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560320"/>
            <a:ext cx="2560320" cy="10972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  <a:latin typeface="Calibri"/>
              </a:rPr>
              <a:t>&lt; 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310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CPU</a:t>
            </a:r>
          </a:p>
        </p:txBody>
      </p:sp>
      <p:sp>
        <p:nvSpPr>
          <p:cNvPr id="8" name="Rectangle 7"/>
          <p:cNvSpPr/>
          <p:nvPr/>
        </p:nvSpPr>
        <p:spPr>
          <a:xfrm>
            <a:off x="3374136" y="2560320"/>
            <a:ext cx="2560320" cy="10972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74136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  <a:latin typeface="Calibri"/>
              </a:rPr>
              <a:t>&lt; 200 MB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4136" y="3310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62472" y="2560320"/>
            <a:ext cx="2560320" cy="10972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62472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  <a:latin typeface="Calibri"/>
              </a:rPr>
              <a:t>82/82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2472" y="3310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Tests pasando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50808" y="2560320"/>
            <a:ext cx="2560320" cy="109728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50808" y="26517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71"/>
                </a:solidFill>
                <a:latin typeface="Calibri"/>
              </a:rPr>
              <a:t>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33101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E8E9E"/>
                </a:solidFill>
                <a:latin typeface="Calibri"/>
              </a:rPr>
              <a:t>Instalación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86200"/>
            <a:ext cx="3383280" cy="150876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023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Bajo riesgo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34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Sin internet, sin puertos, sin admin, sin registro. Desinstalación en 3 min.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5384" y="3886200"/>
            <a:ext cx="3383280" cy="150876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98264" y="4023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Cero intervención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8264" y="4434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RF-07 + RF-08 trabajan 24/7 de forma autónoma. Auditoría completa.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44968" y="3886200"/>
            <a:ext cx="3383280" cy="1508760"/>
          </a:xfrm>
          <a:prstGeom prst="rect">
            <a:avLst/>
          </a:prstGeom>
          <a:solidFill>
            <a:srgbClr val="0F2440"/>
          </a:solidFill>
          <a:ln w="12700">
            <a:solidFill>
              <a:srgbClr val="16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27848" y="402336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Documentado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7848" y="44348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5C1E9"/>
                </a:solidFill>
                <a:latin typeface="Calibri"/>
              </a:rPr>
              <a:t>15+ documentos en español. Capacitación incluida. SLA definido.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62356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IDC Ingeniería</a:t>
            </a:r>
          </a:p>
          <a:p>
            <a:pPr algn="ctr"/>
            <a:r>
              <a:rPr sz="1000" b="0">
                <a:solidFill>
                  <a:srgbClr val="8E8E9E"/>
                </a:solidFill>
                <a:latin typeface="Calibri"/>
              </a:rPr>
              <a:t>Marzo 2026</a:t>
            </a:r>
          </a:p>
        </p:txBody>
      </p:sp>
      <p:pic>
        <p:nvPicPr>
          <p:cNvPr id="27" name="Picture 26" descr="idc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25912" y="6108192"/>
            <a:ext cx="1188720" cy="585216"/>
          </a:xfrm>
          <a:prstGeom prst="rect">
            <a:avLst/>
          </a:prstGeom>
        </p:spPr>
      </p:pic>
    </p:spTree>
  </p:cSld>
  <p:clrMapOvr>
    <a:masterClrMapping/>
  </p:clrMapOvr>
  <p:transition spd="med">
    <p:zoom dir="in"/>
  </p:transition>
  <p:timing>
    <p:tnLst>
      <p:par>
        <p:cTn id="1283" dur="indefinite" restart="whenNotActive" nodeType="tmRoot">
          <p:childTnLst>
            <p:par>
              <p:cTn id="1284" fill="hold">
                <p:stCondLst>
                  <p:cond delay="0"/>
                </p:stCondLst>
                <p:childTnLst>
                  <p:par>
                    <p:cTn id="1285" presetID="10" presetClass="entr" presetSubtype="0" fill="hold" grpId="0" nodeType="withEffect">
                      <p:stCondLst>
                        <p:cond delay="0"/>
                      </p:stCondLst>
                      <p:childTnLst>
                        <p:animEffect transition="in" filter="fade">
                          <p:cBhvr>
                            <p:cTn id="1286" dur="6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1287" presetID="10" presetClass="entr" presetSubtype="0" fill="hold" grpId="1" nodeType="withEffect">
                      <p:stCondLst>
                        <p:cond delay="100"/>
                      </p:stCondLst>
                      <p:childTnLst>
                        <p:animEffect transition="in" filter="fade">
                          <p:cBhvr>
                            <p:cTn id="1288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1289" presetID="10" presetClass="entr" presetSubtype="0" fill="hold" grpId="2" nodeType="withEffect">
                      <p:stCondLst>
                        <p:cond delay="200"/>
                      </p:stCondLst>
                      <p:childTnLst>
                        <p:animEffect transition="in" filter="fade">
                          <p:cBhvr>
                            <p:cTn id="1290" dur="6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  <p:par>
                    <p:cTn id="1291" presetID="10" presetClass="entr" presetSubtype="0" fill="hold" grpId="3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92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1293" presetID="10" presetClass="entr" presetSubtype="0" fill="hold" grpId="4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94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1295" presetID="10" presetClass="entr" presetSubtype="0" fill="hold" grpId="5" nodeType="withEffect">
                      <p:stCondLst>
                        <p:cond delay="300"/>
                      </p:stCondLst>
                      <p:childTnLst>
                        <p:animEffect transition="in" filter="fade">
                          <p:cBhvr>
                            <p:cTn id="1296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297" presetID="10" presetClass="entr" presetSubtype="0" fill="hold" grpId="6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298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299" presetID="10" presetClass="entr" presetSubtype="0" fill="hold" grpId="7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300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301" presetID="10" presetClass="entr" presetSubtype="0" fill="hold" grpId="8" nodeType="withEffect">
                      <p:stCondLst>
                        <p:cond delay="400"/>
                      </p:stCondLst>
                      <p:childTnLst>
                        <p:animEffect transition="in" filter="fade">
                          <p:cBhvr>
                            <p:cTn id="1302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1303" presetID="10" presetClass="entr" presetSubtype="0" fill="hold" grpId="9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04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1305" presetID="10" presetClass="entr" presetSubtype="0" fill="hold" grpId="10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06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1307" presetID="10" presetClass="entr" presetSubtype="0" fill="hold" grpId="11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08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  <p:par>
                    <p:cTn id="1309" presetID="10" presetClass="entr" presetSubtype="0" fill="hold" grpId="12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310" dur="6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  <p:par>
                    <p:cTn id="1311" presetID="10" presetClass="entr" presetSubtype="0" fill="hold" grpId="13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312" dur="6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  <p:par>
                    <p:cTn id="1313" presetID="10" presetClass="entr" presetSubtype="0" fill="hold" grpId="14" nodeType="withEffect">
                      <p:stCondLst>
                        <p:cond delay="600"/>
                      </p:stCondLst>
                      <p:childTnLst>
                        <p:animEffect transition="in" filter="fade">
                          <p:cBhvr>
                            <p:cTn id="1314" dur="6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  <p:par>
                    <p:cTn id="1315" presetID="10" presetClass="entr" presetSubtype="0" fill="hold" grpId="15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16" dur="6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  <p:par>
                    <p:cTn id="1317" presetID="10" presetClass="entr" presetSubtype="0" fill="hold" grpId="16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18" dur="6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  <p:par>
                    <p:cTn id="1319" presetID="10" presetClass="entr" presetSubtype="0" fill="hold" grpId="17" nodeType="withEffect">
                      <p:stCondLst>
                        <p:cond delay="500"/>
                      </p:stCondLst>
                      <p:childTnLst>
                        <p:animEffect transition="in" filter="fade">
                          <p:cBhvr>
                            <p:cTn id="1320" dur="6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  <p:par>
                    <p:cTn id="1321" presetID="10" presetClass="entr" presetSubtype="0" fill="hold" grpId="18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322" dur="6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  <p:par>
                    <p:cTn id="1323" presetID="10" presetClass="entr" presetSubtype="0" fill="hold" grpId="19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324" dur="6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  <p:par>
                    <p:cTn id="1325" presetID="10" presetClass="entr" presetSubtype="0" fill="hold" grpId="20" nodeType="withEffect">
                      <p:stCondLst>
                        <p:cond delay="620"/>
                      </p:stCondLst>
                      <p:childTnLst>
                        <p:animEffect transition="in" filter="fade">
                          <p:cBhvr>
                            <p:cTn id="1326" dur="6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  <p:par>
                    <p:cTn id="1327" presetID="10" presetClass="entr" presetSubtype="0" fill="hold" grpId="21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1328" dur="6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  <p:par>
                    <p:cTn id="1329" presetID="10" presetClass="entr" presetSubtype="0" fill="hold" grpId="22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1330" dur="6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  <p:par>
                    <p:cTn id="1331" presetID="10" presetClass="entr" presetSubtype="0" fill="hold" grpId="23" nodeType="withEffect">
                      <p:stCondLst>
                        <p:cond delay="740"/>
                      </p:stCondLst>
                      <p:childTnLst>
                        <p:animEffect transition="in" filter="fade">
                          <p:cBhvr>
                            <p:cTn id="1332" dur="6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  <p:par>
                    <p:cTn id="1333" presetID="10" presetClass="entr" presetSubtype="0" fill="hold" grpId="24" nodeType="withEffect">
                      <p:stCondLst>
                        <p:cond delay="700"/>
                      </p:stCondLst>
                      <p:childTnLst>
                        <p:animEffect transition="in" filter="fade">
                          <p:cBhvr>
                            <p:cTn id="1334" dur="6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